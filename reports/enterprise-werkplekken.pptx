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Enterprise Werkplekken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8D4F0"/>
                </a:solidFill>
              </a:rPr>
              <a:t>Vergelijking &amp; Gebruiksscenario's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017520"/>
            <a:ext cx="39593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8D4F0"/>
                </a:solidFill>
              </a:rPr>
              <a:t>Laptop  ·  Microsoft 365  ·  Azure Virtual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B8E0"/>
                </a:solidFill>
              </a:rPr>
              <a:t>Werkplekstrategie voor Research, Student &amp; Corporate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8C0"/>
                </a:solidFill>
              </a:rPr>
              <a:t>Maart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556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Definitie van de drie werkplekmodellen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5564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Vergelijkingsmatrix — sleutelfactoren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Gebruiksscenario: Research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88036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88036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3639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17296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Gebruiksscenario: Student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9028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Gebruiksscenario: Corporate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297680"/>
            <a:ext cx="539496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297680"/>
            <a:ext cx="914400" cy="1143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53712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59028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Aanbevelingen &amp; Beslismodel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Drie Werkplekmodellen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Wat verstaan we eronder?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49039" cy="82296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💻  Fysieke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50A0"/>
                </a:solidFill>
              </a:rPr>
              <a:t>Traditioneel beheerd eindpunt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Windows 11-device (eigen of lease)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Lokale compute, opslag &amp; applicaties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5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Verbonden via VPN of direct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183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Beheer via Intune / SCCM / JAMF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766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On-premise én cloud apps mogelijk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37160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371600"/>
            <a:ext cx="3749039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4447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☁️  Microsoft 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8D4"/>
                </a:solidFill>
              </a:rPr>
              <a:t>Cloud-native productiviteitsplatform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Teams, Exchange, SharePoint, OneDrive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401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Office apps (web + desktop client)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059935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Identiteit via Azure Active Directory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7183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Device-onafhankelijk (browser/app)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53766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Licentiemodel per gebruiker/maand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37160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8744" y="1371600"/>
            <a:ext cx="3749039" cy="822960"/>
          </a:xfrm>
          <a:prstGeom prst="rect">
            <a:avLst/>
          </a:prstGeom>
          <a:solidFill>
            <a:srgbClr val="00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4447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🖥️  Azure Virtual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76C"/>
                </a:solidFill>
              </a:rPr>
              <a:t>Gevirtualiseerde desktop vanuit 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Windows-desktop draait in Azure-datacenter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401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Thin client, tablet of browser als 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059935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Gecentraliseerd databeheer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7183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Session Host Pools (persoonlijk/gedeeld)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53766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Schaalbaar op/afschalen op vraag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Vergelijkingsmatrix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Sleutelfactoren per werkplekmodel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2487168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25880"/>
            <a:ext cx="2761488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Fysieke Laptop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325880"/>
            <a:ext cx="2761488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Microsoft 365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2761488" cy="4572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Azure Virtual 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847088"/>
            <a:ext cx="248716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847088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847088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32520" y="1847088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01952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💰 Initiële kosten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9019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Hoog (hardware)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19019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Laag (licentie)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9019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Middel (infra + licentie)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308860"/>
            <a:ext cx="248716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80360" y="2308860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2308860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2520" y="2308860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363724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📊 TCO (3 jaar)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236372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Middel–Hoog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236372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Laag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36372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Middel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70632"/>
            <a:ext cx="248716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80360" y="2770632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06440" y="2770632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2770632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825496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🔒 Beveiliging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82549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Endpoint-risico aanwezig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79" y="282549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Hoog (identity-first)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825496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Zeer hoog (data blijft in Azure)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232404"/>
            <a:ext cx="248716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360" y="3232404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06440" y="3232404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32520" y="3232404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287268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⚙️ Beheer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1800" y="328726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Complex (patch/imaging)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79" y="328726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Eenvoudig (cloud-first)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28726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Gecentraliseerd, schaalbaar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694176"/>
            <a:ext cx="248716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80360" y="3694176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06440" y="3694176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32520" y="3694176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749039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🌐 Remote toegang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374903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VPN vereist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79" y="374903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Altijd, overal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374903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Altijd, overal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155948"/>
            <a:ext cx="248716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360" y="4155948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06440" y="4155948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32520" y="4155948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210812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🚀 Performance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421081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Lokaal snel, offline 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79" y="421081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Afhankelijk van internet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421081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Afhankelijk van latency Azure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617720"/>
            <a:ext cx="248716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80360" y="4617720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06440" y="4617720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32520" y="4617720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672584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📋 Compliance &amp; AVG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71800" y="46725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Endpoint moet worden beheerd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79" y="46725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Data in M365 cloud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60" y="4672584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Data 100% in datacenter NL/EU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5079492"/>
            <a:ext cx="248716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80360" y="5079492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06440" y="5079492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32520" y="5079492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5134355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📈 Schaalbaarheid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71800" y="5134355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Laag (hardware inkoop)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79" y="5134355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Hoog (licentie on/off)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5134355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Zeer hoog (auto-scale)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5541264"/>
            <a:ext cx="248716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80360" y="5541264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06440" y="5541264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32520" y="5541264"/>
            <a:ext cx="2761488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5596128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🎨 Gebruikerservaring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71800" y="559612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Native, rijke UX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79" y="559612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Goed (web + app)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23960" y="5596128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Goed, afhankelijk van netwerk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6003036"/>
            <a:ext cx="248716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880360" y="6003036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06440" y="6003036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732520" y="6003036"/>
            <a:ext cx="2761488" cy="44805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6057899"/>
            <a:ext cx="23591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🔌 Offline gebruik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71800" y="605789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Volledig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97879" y="605789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Beperkt (OneDrive sync)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23960" y="6057899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Niet mogelijk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Gebruiksscenario: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Universiteiten, kennisinstituten &amp; R&amp;D-labs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A0"/>
                </a:solidFill>
              </a:rPr>
              <a:t>🔬  Kenmerken van de Research-werkplek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Zware rekentaken (ML-training, simulaties, dataverwerking)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Toegang tot HPC-clusters en GPU-resources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Samenwerking met internationale partners (data delen)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Gevoelige onderzoeksdata (IP-bescherming, AVG)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Diverse tooling: Python, R, MATLAB, SPSS, lab-specifieke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Variabele werklocaties: lab, thuis, congres, veldwerk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49039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Primaire keuze voor onderzoekers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Lokale GPU voor ML/simulaties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Offline werken in het veld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Volledige software-freedom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3749039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Aanvullend: samenwerking &amp; communicatie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 voor internationale co-auteurs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SharePoint voor kennisdeling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Niet geschikt als primaire werkplek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3200400"/>
            <a:ext cx="3749039" cy="685800"/>
          </a:xfrm>
          <a:prstGeom prst="rect">
            <a:avLst/>
          </a:prstGeom>
          <a:solidFill>
            <a:srgbClr val="00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876C"/>
                </a:solidFill>
              </a:rPr>
              <a:t>Geschiktheid: 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Geschikt voor gestandaardiseerde omgevingen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Beveiligd werken met gevoelige datasets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GPU-enabled session hosts voor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Ideaal voor gedeelde onderzoeksinfra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Gebruiksscenario: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Hogescholen, universiteiten &amp; onderwijsinstellingen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A0"/>
                </a:solidFill>
              </a:rPr>
              <a:t>🎓  Kenmerken van de Student-werkplek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Kostenbewust: studenten hebben beperkt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Persoonlijk device naast institutioneel aanbod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Toegang tot leeromgevingen (Canvas, Brightspace)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Samenwerking bij groepsprojecten (realtime)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Toegang tot gelicenseerde software (Office, Adobe, Matlab)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Flexibiliteit: thuis, campus, onderweg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49039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Noodzakelijk als persoonlijk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Instelling biedt geen hardware → BYOD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Kostbaar voor instelling om te beheren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Intune-inschrijving voor M365-toegang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3749039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Primaire keuze voor studenten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A1/A3-licentie: gratis of zeer laag tarief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Teams, OneDrive, Office web gratis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Toegang op elk device (ook smartphone)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3200400"/>
            <a:ext cx="3749039" cy="685800"/>
          </a:xfrm>
          <a:prstGeom prst="rect">
            <a:avLst/>
          </a:prstGeom>
          <a:solidFill>
            <a:srgbClr val="00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876C"/>
                </a:solidFill>
              </a:rPr>
              <a:t>Geschiktheid: 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Uitstekend voor software-lab omgevingen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Student heeft geen krachtige PC nodig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Beheerde dev/tool omgeving per studie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Kostenverdeling via instelling, niet student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Gebruiksscenario: Corporate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Enterprise-organisaties, profit &amp; non-profit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A0"/>
                </a:solidFill>
              </a:rPr>
              <a:t>🏢  Kenmerken van de Corporate-werkplek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Brede workforce: kantoor, remote, buitendienst, productieplant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Compliance vereisten: ISO27001, NEN7510, AVG/GDPR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Lifecycle management: hardware refresh elke 3-5 jaar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Hoge eisen aan uptime en support (SLA)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Gestandaardiseerde applicatieomgeving (ERP, CRM, LOB-apps)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▪  Flexibele workforce (uitzendkrachten, contractors, fusies)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63240"/>
            <a:ext cx="11521440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749039" cy="6858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💻
Fysieke Laptop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50A0"/>
                </a:solidFill>
              </a:rPr>
              <a:t>Geschiktheid: 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Standaard voor kenniswerkers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Modern Management via Intune + Autopilot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Hoog TCO door hardware +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Beste UX voor primaire werkplek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3749039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☁️
Microsoft 365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78D4"/>
                </a:solidFill>
              </a:rPr>
              <a:t>Geschiktheid: ⭐⭐⭐⭐⭐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Fundament van de digitale werkplek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E3/E5-licentie incl. compliance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Copilot-integratie voor productiviteit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Onmisbaar naast elk ander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3200400"/>
            <a:ext cx="3749039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3200400"/>
            <a:ext cx="3749039" cy="685800"/>
          </a:xfrm>
          <a:prstGeom prst="rect">
            <a:avLst/>
          </a:prstGeom>
          <a:solidFill>
            <a:srgbClr val="00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32186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🖥️
Azure Virtual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876C"/>
                </a:solidFill>
              </a:rPr>
              <a:t>Geschiktheid: ⭐⭐⭐⭐⭐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4315968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Ideaal voor taakwerkers &amp; call centers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828031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Contractors/fusies: snel onboarden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53400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Vervanging datacenter VDI (Citrix/VMware)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1" y="58521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BYOD-strategie zonder datarisico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Aanbevelingen &amp; Beslismodel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Welk model past bij welke context?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A0"/>
                </a:solidFill>
              </a:rPr>
              <a:t>Wanneer kies je wat?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6327648" cy="4114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874519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Situatie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1481328" cy="4114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Laptop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828800"/>
            <a:ext cx="1481328" cy="4114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8745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M365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828800"/>
            <a:ext cx="1709928" cy="41148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4432" y="1874519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AVD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632764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286000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49640" y="2286000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2286000"/>
            <a:ext cx="17099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340864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Medewerker heeft krachtige lokale compute nodig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34086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234086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2340864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34056"/>
            <a:ext cx="632764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2734056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2734056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1280" y="2734056"/>
            <a:ext cx="17099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788920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Werkomgeving moet 100% gecontroleerd zijn (data)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78892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78892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2788920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82112"/>
            <a:ext cx="632764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182112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3182112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3182112"/>
            <a:ext cx="17099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236976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Snelle onboarding van externe medewerkers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32369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2369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3236976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630168"/>
            <a:ext cx="632764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3630168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9640" y="3630168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41280" y="3630168"/>
            <a:ext cx="17099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685031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Offline werken is essentieel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3685031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3685031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3685031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78224"/>
            <a:ext cx="632764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4078224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49640" y="4078224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80" y="4078224"/>
            <a:ext cx="17099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133087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Schaalbaarheid zonder hardware-investering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1152" y="4133087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2792" y="4133087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14432" y="4133087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526280"/>
            <a:ext cx="632764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0" y="4526280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49640" y="4526280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241280" y="4526280"/>
            <a:ext cx="17099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4581144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Gevoelige data mag endpoint niet verlaten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31152" y="458114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22792" y="458114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14432" y="4581144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974336"/>
            <a:ext cx="632764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58000" y="4974336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49640" y="4974336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41280" y="4974336"/>
            <a:ext cx="17099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5029199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Kosten minimaliseren per gebruiker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1152" y="5029199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22792" y="5029199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14432" y="5029199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422392"/>
            <a:ext cx="632764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858000" y="5422392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49640" y="5422392"/>
            <a:ext cx="14813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41280" y="5422392"/>
            <a:ext cx="1709928" cy="4297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5477255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Volledige Windows-applicaties vereist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31152" y="5477255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22792" y="5477255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14432" y="5477255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870448"/>
            <a:ext cx="632764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58000" y="5870448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49640" y="5870448"/>
            <a:ext cx="14813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41280" y="5870448"/>
            <a:ext cx="170992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5925312"/>
            <a:ext cx="6236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BYOD / thin-client strategie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31152" y="592531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22792" y="592531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14432" y="5925312"/>
            <a:ext cx="1618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7"/>
                </a:solidFill>
              </a:rPr>
              <a:t>✅ = Aanbevolen   ➖ = Aanvullend / situatieafhankelijk   ❌ = Niet geschikt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D4F0"/>
                </a:solidFill>
              </a:rPr>
              <a:t>De drie modellen zijn complementair, niet concurrerend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37160" cy="141732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0A0"/>
                </a:solidFill>
              </a:rPr>
              <a:t>💻 Fysieke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Blijft de voorkeur voor kenniswerkers die krachtige lokale compute, offline-gebruik en een rijke UX nodig hebben. Modern Management (Intune + Autopilot) vermindert de beheerlast aanzienlijk. Hoog TCO rechtvaardigt selectieve inzet — niet voor elke medewerker.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81528"/>
            <a:ext cx="137160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☁️ Microsoft 365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3872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Het fundament van élke moderne digitale werkplek — ongeacht het gekozen endpointmodel. Lage kosten, hoge schaalbaarheid en Copilot-integratie maken M365 voor alle contexten (Research, Student, Corporate) de minimale baseline. Geen keuze maar een vereiste.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745736"/>
            <a:ext cx="137160" cy="1417320"/>
          </a:xfrm>
          <a:prstGeom prst="rect">
            <a:avLst/>
          </a:prstGeom>
          <a:solidFill>
            <a:srgbClr val="00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914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6C"/>
                </a:solidFill>
              </a:rPr>
              <a:t>🖥️ Azure Virtual 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02936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Sterk groeiend als vervanging van traditionele VDI (Citrix, VMware Horizon). Ideaal voor taakgerichte medewerkers, contractors, BYOD-scenario's en gevoelige data. Vergt een solide netwerkfundament en Azure-expertise, maar levert de hoogste compliance én flexibiliteit.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373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💡  De winnende strategie combineert alle drie — afgestemd op persona, risicoprofiel en kosten.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7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
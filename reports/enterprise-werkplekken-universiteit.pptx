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003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Digitale Werkplekken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8D4F0"/>
                </a:solidFill>
              </a:rPr>
              <a:t>in de Universiteitscontext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788920"/>
            <a:ext cx="4873752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8D4F0"/>
                </a:solidFill>
              </a:rPr>
              <a:t>Laptop  ·  Microsoft 365  ·  Azure Virtual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B8E0"/>
                </a:solidFill>
              </a:rPr>
              <a:t>Scenario's: Onderzoek · Onderwijs · Student · Bedrijfsvoering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98C0"/>
                </a:solidFill>
              </a:rPr>
              <a:t>Maart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914400" cy="105156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8308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 drie werkplekmodellen uitgelegd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46304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463040"/>
            <a:ext cx="914400" cy="105156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190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78308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Vergelijkingsmatrix — sleutelfactoren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914400" cy="105156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5351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175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Scenario: Onderzoek (promovendi, onderzoekers)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69748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697480"/>
            <a:ext cx="914400" cy="105156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95351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0175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Scenario: Onderwijs (docenten, tutoren)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914400" cy="105156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879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519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Scenario: Student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93192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3931920"/>
            <a:ext cx="914400" cy="105156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1879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2519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Scenario: Bedrijfsvoering &amp; Ondersteuning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16636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166360"/>
            <a:ext cx="914400" cy="105156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2239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48640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SURF-overeenkomsten &amp; licentiekader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516636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5166360"/>
            <a:ext cx="914400" cy="105156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42239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548640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Aanbevelingen &amp; Beslismodel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Drie Werkplekmodellen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Wat verstaan we eronder?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79476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94760" cy="804672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356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💻  Fysieke Laptop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24942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50A0"/>
                </a:solidFill>
              </a:rPr>
              <a:t>Beheerd eindpunt — klassieke werkomgeving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Windows 11-device (eigendom of lease)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Lokale compute, opslag &amp; applicaties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Beheer via Intune / SCCM / JAMF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4517136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VPN of Zero Trust Network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513892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On-premise én cloud apps mogelijk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576072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Intune-baar via SURF Microsoft overeenkomst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371600"/>
            <a:ext cx="379476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59" y="1371600"/>
            <a:ext cx="3794760" cy="8046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4356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☁️  Microsoft 365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24942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8D4"/>
                </a:solidFill>
              </a:rPr>
              <a:t>Cloud-native productiviteitsplatform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Teams, Exchange, SharePoint,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Office apps (web + desktop client)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Identiteit via Azure AD (Entra ID)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517136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Device-onafhankelijk (browser/app)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13892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A3/A5-licentie via SURF-overeenkomst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76072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Copilot for Education beschikbaar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371600"/>
            <a:ext cx="379476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371600"/>
            <a:ext cx="3794760" cy="804672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4356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🖥️  Azure Virtual Desktop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24942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050"/>
                </a:solidFill>
              </a:rPr>
              <a:t>Gevirtualiseerde Windows-desktop vanuit Azure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Windows-desktop draait in Azure-datacenter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Thin client, tablet of browser als endpoint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Gecentraliseerd databeheer (geen data op device)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517136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Session Host Pools (persoonlijk / gedeeld)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13892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Schaalbaar: op/afschalen op vraag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76072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Ideaal voor onderzoeksdata &amp;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Vergelijkingsmatrix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Sleutelfactoren voor de universitaire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325880"/>
            <a:ext cx="2487168" cy="4572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325880"/>
            <a:ext cx="2734056" cy="4572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371600"/>
            <a:ext cx="262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Fysieke Laptop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325880"/>
            <a:ext cx="2734056" cy="4572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9592" y="1371600"/>
            <a:ext cx="262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Microsoft 365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1325880"/>
            <a:ext cx="3236976" cy="4572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371600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Azure Virtual Desktop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1847088"/>
            <a:ext cx="248716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52928" y="1847088"/>
            <a:ext cx="2734056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06440" y="1847088"/>
            <a:ext cx="2734056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32520" y="1847088"/>
            <a:ext cx="3236976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1901952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💰 Kosten (TCO 3 jaar)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1901952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Hoog (hardware + beheer)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1901952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Laag (licentie per gebruiker)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1901952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Middel (Azure infra + licentie)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2299716"/>
            <a:ext cx="2487168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52928" y="2299716"/>
            <a:ext cx="2734056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06440" y="2299716"/>
            <a:ext cx="2734056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32520" y="2299716"/>
            <a:ext cx="3236976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354580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🔒 Informatiebeveiliging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2354580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Endpoint-risico; Intune vereist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9592" y="2354580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Hoog — identity-first (Entra ID)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5672" y="2354580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Zeer hoog — data blijft in Azure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" y="2752344"/>
            <a:ext cx="248716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52928" y="2752344"/>
            <a:ext cx="2734056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06440" y="2752344"/>
            <a:ext cx="2734056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32520" y="2752344"/>
            <a:ext cx="3236976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2807208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📋 AVG / Onderzoeksdata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2807208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Data op device — risicovoller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9592" y="2807208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Data in M365-cloud (EU-regio)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05672" y="2807208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Data 100% in datacenter NL/EU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" y="3204972"/>
            <a:ext cx="2487168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52928" y="3204972"/>
            <a:ext cx="2734056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06440" y="3204972"/>
            <a:ext cx="2734056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32520" y="3204972"/>
            <a:ext cx="3236976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3259836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🌐 Remote / hybride toegang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3259836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VPN of ZTNA vereist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79592" y="3259836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Altijd, overal, elk device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05672" y="3259836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Altijd, overal, elk device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" y="3657600"/>
            <a:ext cx="248716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852928" y="3657600"/>
            <a:ext cx="2734056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06440" y="3657600"/>
            <a:ext cx="2734056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732520" y="3657600"/>
            <a:ext cx="3236976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3712463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⚙️ Beheerlast 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0" y="3712463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Hoog (imaging, patching, refresh)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79592" y="3712463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Laag (cloud-first beheer)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05672" y="3712463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Middel (Azure infra-expertise)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1168" y="4110228"/>
            <a:ext cx="2487168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52928" y="4110228"/>
            <a:ext cx="2734056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06440" y="4110228"/>
            <a:ext cx="2734056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32520" y="4110228"/>
            <a:ext cx="3236976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4165091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🚀 Performance zware taken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26080" y="4165091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Lokaal GPU/CPU mogelijk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79592" y="4165091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❌ Browser-gebonden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05672" y="4165091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GPU session hosts beschikbaar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1168" y="4562856"/>
            <a:ext cx="248716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852928" y="4562856"/>
            <a:ext cx="2734056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806440" y="4562856"/>
            <a:ext cx="2734056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32520" y="4562856"/>
            <a:ext cx="3236976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4617720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🔌 Offline gebruik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26080" y="4617720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Volledig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79592" y="4617720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⚠️ Beperkt (OneDrive sync)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05672" y="4617720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❌ Niet mogelijk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1168" y="5015483"/>
            <a:ext cx="2487168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852928" y="5015483"/>
            <a:ext cx="2734056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06440" y="5015483"/>
            <a:ext cx="2734056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732520" y="5015483"/>
            <a:ext cx="3236976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" y="5070347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📈 Schaalbaarheid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26080" y="5070347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❌ Hardware inkoop vereist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79592" y="5070347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On/off per licentie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05672" y="5070347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Auto-scale op vraag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1168" y="5468112"/>
            <a:ext cx="248716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852928" y="5468112"/>
            <a:ext cx="2734056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806440" y="5468112"/>
            <a:ext cx="2734056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732520" y="5468112"/>
            <a:ext cx="3236976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4320" y="5522976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🎓 SURF-overeenkomst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26080" y="5522976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Intune via M365 A3/A5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79592" y="5522976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SURF Microsoft Agreement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05672" y="5522976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SURF Microsoft / Azure EA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1168" y="5920740"/>
            <a:ext cx="2487168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852928" y="5920740"/>
            <a:ext cx="2734056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806440" y="5920740"/>
            <a:ext cx="2734056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732520" y="5920740"/>
            <a:ext cx="3236976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5975603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🖥️ Toetsen &amp; proctoring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26080" y="5975603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Lokale toets-browser mogelijk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79592" y="5975603"/>
            <a:ext cx="262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Microsoft Forms / Teams-integratie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05672" y="5975603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Beveiligde toetsomgeving centraal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Scenario: Onderzoek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Onderzoekers, promovendi, postdocs &amp; onderzoeksgroepen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0A0"/>
                </a:solidFill>
              </a:rPr>
              <a:t>🔬  Kenmerken &amp; behoeften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ML-training, simulaties, bioinformatica — zware lokale of HPC-compute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Research Data Management (RDM): AVG, IP-bescherming, open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21991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Internationale samenwerking (data delen met partnerinstellingen)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21991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Diverse tooling: Python, R, MATLAB, lab-software, LIMS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60904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SURF Research Cloud / Snellius HPC als aanvulling op 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60904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Veldwerk en offline werken in remote omgevingen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63240"/>
            <a:ext cx="11521440" cy="27432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200400"/>
            <a:ext cx="3767328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00400"/>
            <a:ext cx="3767328" cy="6858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255264"/>
            <a:ext cx="35387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💻
Fysieke Laptop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950208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50A0"/>
                </a:solidFill>
              </a:rPr>
              <a:t>Geschiktheid: ⭐⭐⭐⭐⭐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279392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Primaire voorkeur voor onderzoekers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4809744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Lokale GPU voor ML/simulaties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0096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Offline werken in lab of veld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870448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Volledige software-vrijheid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3200400"/>
            <a:ext cx="3767328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3200400"/>
            <a:ext cx="3767328" cy="685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7" y="3255264"/>
            <a:ext cx="35387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☁️
Microsoft 365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7" y="3950208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8D4"/>
                </a:solidFill>
              </a:rPr>
              <a:t>Geschiktheid: ⭐⭐⭐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7" y="4279392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Aanvullend: Teams voor samenwerking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7" y="4809744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SharePoint / OneDrive voor kennisdeling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7" y="5340096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SURF Microsoft A3/A5-licentie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7" y="5870448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Niet primaire werkplek voor zware taken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3200400"/>
            <a:ext cx="3767328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19" y="3200400"/>
            <a:ext cx="3767328" cy="68580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7" y="3255264"/>
            <a:ext cx="35387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🖥️
Azure Virtual Desktop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7" y="3950208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050"/>
                </a:solidFill>
              </a:rPr>
              <a:t>Geschiktheid: ⭐⭐⭐⭐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7" y="4279392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Beveiligde omgeving voor gevoelige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7" y="4809744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GPU-enabled session hosts voor 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7" y="5340096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Gestandaardiseerde onderzoeksomgeving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7" y="5870448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Koppeling met SURF Research Cloud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Scenario: Onderwijs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Docenten, tutoren, onderwijsondersteunend personeel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0A0"/>
                </a:solidFill>
              </a:rPr>
              <a:t>📚  Kenmerken &amp; behoeften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Lesgeven in hybride setting: campus, online en opgenomen colleges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Digitaal toetsen: veilige toetsomgeving, proctoring, vragenbanken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21991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LMS-integratie: Canvas, Brightspace, Moodle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21991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Presentaties, videoproductie, interactieve werkvormen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60904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Toegang tot gelicenseerde didactische tools (Wooclap, Feedpulse)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60904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Combinatie van onderzoek- én onderwijs-taken op één werkplek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63240"/>
            <a:ext cx="11521440" cy="27432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200400"/>
            <a:ext cx="3767328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00400"/>
            <a:ext cx="3767328" cy="6858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255264"/>
            <a:ext cx="35387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💻
Fysieke Laptop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950208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50A0"/>
                </a:solidFill>
              </a:rPr>
              <a:t>Geschiktheid: ⭐⭐⭐⭐⭐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279392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Primaire werkplek voor docenten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4809744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Rijke UX voor presentaties &amp; video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0096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Lokale opslag voor cursusmaterialen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870448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Intune-beheer via SURF Microsoft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3200400"/>
            <a:ext cx="3767328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3200400"/>
            <a:ext cx="3767328" cy="685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7" y="3255264"/>
            <a:ext cx="35387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☁️
Microsoft 365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7" y="3950208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8D4"/>
                </a:solidFill>
              </a:rPr>
              <a:t>Geschiktheid: ⭐⭐⭐⭐⭐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7" y="4279392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Teams voor hoorcolleges &amp; werkgroepen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7" y="4809744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Forms voor digitale toetsing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7" y="5340096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Stream voor college-opnames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7" y="5870448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Copilot for Education voor lesvoorbereiding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3200400"/>
            <a:ext cx="3767328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19" y="3200400"/>
            <a:ext cx="3767328" cy="68580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7" y="3255264"/>
            <a:ext cx="35387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🖥️
Azure Virtual Desktop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7" y="3950208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050"/>
                </a:solidFill>
              </a:rPr>
              <a:t>Geschiktheid: ⭐⭐⭐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7" y="4279392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Toetsen in beveiligde AVD-sessie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7" y="4809744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Aanvullend voor specifieke software-labs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7" y="5340096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Minder noodzakelijk als primaire desk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7" y="5870448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Nuttig bij BYOD-docenten op campus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Scenario: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Bachelor, master, deeltijd &amp; uitwisselingsstudenten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0A0"/>
                </a:solidFill>
              </a:rPr>
              <a:t>🎓  Kenmerken &amp; behoeften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Persoonlijk BYOD-device (instelling verstrekt geen laptop)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Toegang tot LMS, rooster, studieresultaten (SIS-koppeling)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21991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Groepsopdrachten &amp; realtime samenwerking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21991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Gelicenseerde software (Office, SPSS, MATLAB, Adobe)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60904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Digitale toetsafname — soms in beveiligde omgeving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60904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Kostenbewust: instelling draagt zorg voor licenties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63240"/>
            <a:ext cx="11521440" cy="27432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200400"/>
            <a:ext cx="3767328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00400"/>
            <a:ext cx="3767328" cy="6858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255264"/>
            <a:ext cx="35387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💻
Fysieke Laptop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950208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50A0"/>
                </a:solidFill>
              </a:rPr>
              <a:t>Geschiktheid: ⭐⭐⭐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279392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BYOD — student is zelf verantwoordelijk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4809744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Intune-registratie voor M365-toegang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0096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Beperkte beheerbaarheid door 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870448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Geen device-verstrekking door instelling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3200400"/>
            <a:ext cx="3767328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3200400"/>
            <a:ext cx="3767328" cy="685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7" y="3255264"/>
            <a:ext cx="35387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☁️
Microsoft 365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7" y="3950208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8D4"/>
                </a:solidFill>
              </a:rPr>
              <a:t>Geschiktheid: ⭐⭐⭐⭐⭐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7" y="4279392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Fundament voor alle studenten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7" y="4809744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A3-licentie gratis via SURF-overeenkomst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7" y="5340096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Teams, OneDrive, Office web &amp;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7" y="5870448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Toegankelijk op elk device incl. smartphone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3200400"/>
            <a:ext cx="3767328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19" y="3200400"/>
            <a:ext cx="3767328" cy="68580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7" y="3255264"/>
            <a:ext cx="35387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🖥️
Azure Virtual Desktop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7" y="3950208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050"/>
                </a:solidFill>
              </a:rPr>
              <a:t>Geschiktheid: ⭐⭐⭐⭐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7" y="4279392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Software-lab zonder krachtige PC nodig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7" y="4809744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Beveiligde toetsomgeving op BYOD-device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7" y="5340096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Programmeeromgeving (RStudio, MATLAB)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7" y="5870448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Kosten gedragen door instelling, niet student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Scenario: Bedrijfsvoering &amp; Ondersteuning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HR, Finance, ICT, Facilitair, Communicatie, Bestuursstaf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0A0"/>
                </a:solidFill>
              </a:rPr>
              <a:t>🏛️  Kenmerken &amp; behoeften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Gestandaardiseerde processen: ERP (SAP/AFAS), zaakgericht werken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Strenge AVG-naleving: personeelsdossiers, financiële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21991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Compliance: ISO27001, NEN7510, BIO (Baseline Informatiebeveiliging Overheid)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21991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Hybride werken: thuis en campus afwisselend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60904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Taakgerichte werknemers: receptie, facilitair, financieel medewerker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60904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▪  Snelle onboarding van tijdelijk personeel &amp; uitzendkrachten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63240"/>
            <a:ext cx="11521440" cy="27432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200400"/>
            <a:ext cx="3767328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00400"/>
            <a:ext cx="3767328" cy="6858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255264"/>
            <a:ext cx="35387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💻
Fysieke Laptop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950208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50A0"/>
                </a:solidFill>
              </a:rPr>
              <a:t>Geschiktheid: ⭐⭐⭐⭐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279392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Standaard voor kenniswerkers (HR, Finance)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4809744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Modern Management via Intune + Autopilot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0096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Hoog TCO bij grote aantallen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870448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Hardware refresh elke 4-5 jaar nodig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3200400"/>
            <a:ext cx="3767328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3200400"/>
            <a:ext cx="3767328" cy="685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7" y="3255264"/>
            <a:ext cx="35387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☁️
Microsoft 365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7" y="3950208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8D4"/>
                </a:solidFill>
              </a:rPr>
              <a:t>Geschiktheid: ⭐⭐⭐⭐⭐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7" y="4279392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Onmisbaar fundament voor alle medewerkers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7" y="4809744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Teams voor interne communicatie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7" y="5340096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E3/E5 met Compliance &amp; Purview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7" y="5870448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Koppeling met ERP en zaaksystemen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3200400"/>
            <a:ext cx="3767328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19" y="3200400"/>
            <a:ext cx="3767328" cy="68580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7" y="3255264"/>
            <a:ext cx="35387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🖥️
Azure Virtual Desktop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7" y="3950208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050"/>
                </a:solidFill>
              </a:rPr>
              <a:t>Geschiktheid: ⭐⭐⭐⭐⭐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7" y="4279392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Ideaal voor taakwerkers (receptie, financieel)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7" y="4809744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Tijdelijk personeel snel onboarden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7" y="5340096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Gevoelige HR/Finance-data nooit op endpoint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7" y="5870448"/>
            <a:ext cx="3538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Vervanging Citrix of VMware Horizon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SURF-overeenkomsten &amp; Licentiekader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Relevante contracten en diensten voor Nederlandse instellingen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137160" cy="1170432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35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0A0"/>
                </a:solidFill>
              </a:rPr>
              <a:t>SURF Microsoft Overeenkomst (SMA)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19656"/>
            <a:ext cx="11292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Gezamenlijke inkoop van Microsoft 365 A3/A5-licenties voor alle medewerkers én studenten. Inclusief Exchange Online, Teams, SharePoint, OneDrive en Intune (MDM). A5-licentie voegt Defender, Purview en Entra ID P2 toe voor geavanceerde compliance.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15768"/>
            <a:ext cx="137160" cy="1170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61487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SURF Azure Enterprise Agreement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45535"/>
            <a:ext cx="11292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Voordelige Azure-inkoop voor instellingen. Basis voor Azure Virtual Desktop-deployments, SURF Research Cloud en HPC-rekenkracht (Snellius). Verrekening op basis van verbruik. Ondersteund door SURF-expertisecentrum en communities of practice.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41648"/>
            <a:ext cx="137160" cy="1170432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087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050"/>
                </a:solidFill>
              </a:rPr>
              <a:t>SURF Research Cloud &amp; SURFdrive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71416"/>
            <a:ext cx="11292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SURF Research Cloud: flexibele cloud-werkruimten voor onderzoekers op Azure/OpenStack. SURFdrive: veilige bestandsopslag voor medewerkers (AVG-conform, NL datacenters). ResearchDrive: grootschalige onderzoeksdata-opslag met samenwerking-mogelijkheden.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367527"/>
            <a:ext cx="137160" cy="117043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413247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2D91"/>
                </a:solidFill>
              </a:rPr>
              <a:t>SURF Edugain / SURFconext (Identity)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97295"/>
            <a:ext cx="11292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Federatieve identiteitsinfrastructuur voor alle Nederlandse onderwijs- en onderzoeksinstellingen. Single Sign-On via eigen instellingsaccount voor Microsoft 365, AVD en externe diensten. Basis voor Zero Trust toegangsstrategie bij hybride werkplekken.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Beslismodel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Welk werkplekmodel past bij welke universitaire medewerker of student?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325880"/>
            <a:ext cx="3840480" cy="4572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3721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Situatie / Persona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325880"/>
            <a:ext cx="2404872" cy="4572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Fysieke Laptop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1325880"/>
            <a:ext cx="2011680" cy="4572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5432" y="1371600"/>
            <a:ext cx="18928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Microsoft 365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1325880"/>
            <a:ext cx="2039112" cy="4572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37160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Azure Virt. Desktop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173968" y="1325880"/>
            <a:ext cx="777240" cy="4572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0" y="137160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Prioriteit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1847088"/>
            <a:ext cx="38404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1847088"/>
            <a:ext cx="240487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12280" y="1847088"/>
            <a:ext cx="20116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847088"/>
            <a:ext cx="203911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173968" y="1847088"/>
            <a:ext cx="7772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929384"/>
            <a:ext cx="3721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🔬 Onderzoeker met ML/GPU-behoeften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9293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Primair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1929384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➕ Aanvullend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192938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➕ Aanvullend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1929384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Laptop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" y="2359152"/>
            <a:ext cx="3840480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24528" y="2359152"/>
            <a:ext cx="2404872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12280" y="2359152"/>
            <a:ext cx="2011680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06840" y="2359152"/>
            <a:ext cx="2039112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73968" y="2359152"/>
            <a:ext cx="777240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441448"/>
            <a:ext cx="3721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🔬 Onderzoeker met gevoelige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24414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➕ Aanvullend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2" y="2441448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➕ Aanvullend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9992" y="244144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Primair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2441448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AVD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" y="2871216"/>
            <a:ext cx="38404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24528" y="2871216"/>
            <a:ext cx="240487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12280" y="2871216"/>
            <a:ext cx="20116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06840" y="2871216"/>
            <a:ext cx="203911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173968" y="2871216"/>
            <a:ext cx="7772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2953512"/>
            <a:ext cx="3721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📚 Docent — hybride lesgeven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29535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Primair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5432" y="2953512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Essentieel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9992" y="2953512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➕ Toetsing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2953512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Laptop+M365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" y="3383280"/>
            <a:ext cx="3840480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24528" y="3383280"/>
            <a:ext cx="2404872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12280" y="3383280"/>
            <a:ext cx="2011680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06840" y="3383280"/>
            <a:ext cx="2039112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173968" y="3383280"/>
            <a:ext cx="777240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3465576"/>
            <a:ext cx="3721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🎓 Student — BYOD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0" y="3465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➕ Eigen device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5432" y="3465576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Gratis A3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3465576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Software-lab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3465576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M365+AVD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1168" y="3895344"/>
            <a:ext cx="38404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24528" y="3895344"/>
            <a:ext cx="240487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12280" y="3895344"/>
            <a:ext cx="20116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06840" y="3895344"/>
            <a:ext cx="203911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173968" y="3895344"/>
            <a:ext cx="7772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3977639"/>
            <a:ext cx="3721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🏛️ Kenniswerker bedrijfsvoering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397763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Primair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85432" y="3977639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Essentieel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79992" y="3977639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➕ Aanvullend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0" y="3977639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Laptop+M365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1168" y="4407408"/>
            <a:ext cx="3840480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24528" y="4407408"/>
            <a:ext cx="2404872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12280" y="4407408"/>
            <a:ext cx="2011680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06840" y="4407408"/>
            <a:ext cx="2039112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173968" y="4407408"/>
            <a:ext cx="777240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4489704"/>
            <a:ext cx="3721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🏛️ Taakwerker / receptie / financieel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97680" y="44897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❌ Te duur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85432" y="4489704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Basis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79992" y="448970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Primair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247120" y="4489704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AVD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1168" y="4919472"/>
            <a:ext cx="38404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24528" y="4919472"/>
            <a:ext cx="240487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12280" y="4919472"/>
            <a:ext cx="20116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006840" y="4919472"/>
            <a:ext cx="203911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173968" y="4919472"/>
            <a:ext cx="7772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5001768"/>
            <a:ext cx="3721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🔗 Tijdelijk personeel / uitzendkracht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97680" y="50017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❌ Hardware-risico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85432" y="5001768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Basis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79992" y="500176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Primair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247120" y="5001768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AVD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1168" y="5431536"/>
            <a:ext cx="3840480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224528" y="5431536"/>
            <a:ext cx="2404872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812280" y="5431536"/>
            <a:ext cx="2011680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006840" y="5431536"/>
            <a:ext cx="2039112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173968" y="5431536"/>
            <a:ext cx="777240" cy="4937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74320" y="5513832"/>
            <a:ext cx="3721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🌍 Uitwisselingsstudent / gastdocent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97680" y="55138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❌ Geen device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85432" y="5513832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Tijdelijke licentie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79992" y="5513832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Direct toegang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247120" y="5513832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M365+AVD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01168" y="5943600"/>
            <a:ext cx="38404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224528" y="5943600"/>
            <a:ext cx="240487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812280" y="5943600"/>
            <a:ext cx="20116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06840" y="5943600"/>
            <a:ext cx="203911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173968" y="5943600"/>
            <a:ext cx="7772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74320" y="6025896"/>
            <a:ext cx="3721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🔒 Werken met zeer gevoelige data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97680" y="60258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⚠️ Intune vereist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85432" y="6025896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⚠️ Classificatie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79992" y="6025896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✅ Aanbevolen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247120" y="6025896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AVD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432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7"/>
                </a:solidFill>
              </a:rPr>
              <a:t>✅ = Aanbevolen   ➕ = Aanvullend   ⚠️ = Situatieafhankelijk   ❌ = Niet geschikt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Conclusie &amp; Aanbevelingen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De digitale werkplek van de universiteit is geen eenheidsworst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64592" cy="13716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0A0"/>
                </a:solidFill>
              </a:rPr>
              <a:t>💻 Fysieke Laptop — blijft onmisbaar voor kenniswerkers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9384"/>
            <a:ext cx="11292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Onderzoekers en docenten hebben lokale compute-kracht, offline-mogelijkheid en een rijke UX nodig. Modern Management (Intune + Autopilot) via SURF Microsoft-overeenkomst verlaagt de beheerlast. Hoog TCO: selectief inzetten — niet voor elke medewerker.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990088"/>
            <a:ext cx="164592" cy="1371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06324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☁️ Microsoft 365 — het universele fundament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02152"/>
            <a:ext cx="11292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M365 (A3/A5 via SURF) is de baseline voor élke persona: student, docent, onderzoeker én medewerker. Teams, OneDrive en Copilot for Education verlagen de drempel voor hybride werken en samenwerken. Geen optionele module, maar een vereiste — ongeacht het gekozen eindpuntmodel.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562856"/>
            <a:ext cx="164592" cy="137160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6360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050"/>
                </a:solidFill>
              </a:rPr>
              <a:t>🖥️ Azure Virtual Desktop — de slimme aanvulling voor compliance &amp; schaalbaarheid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074920"/>
            <a:ext cx="11292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AVD is het antwoord op gevoelige onderzoeksdata (RDM), BYOD-toetsing en tijdelijk personeel. Vervangt traditionele VDI (Citrix/VMware) en schaalt mee met collegejaar-pieken. Financiering via SURF Azure EA; beheer vereist Azure-expertise bij de instelling.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309360"/>
            <a:ext cx="11658600" cy="4114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34593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💡  Aanbeveling: werk met persona-gebaseerde werkplekprofielen — combineer Laptop + M365 + AVD afgestemd op rol, data-gevoeligheid en werkomgeving.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
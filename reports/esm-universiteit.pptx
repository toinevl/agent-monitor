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88952" cy="2651760"/>
          </a:xfrm>
          <a:prstGeom prst="rect">
            <a:avLst/>
          </a:prstGeom>
          <a:solidFill>
            <a:srgbClr val="003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515600" cy="1005840"/>
          </a:xfrm>
          <a:prstGeom prst="rect">
            <a:avLst/>
          </a:prstGeom>
          <a:noFill/>
        </p:spPr>
        <p:txBody>
          <a:bodyPr wrap="square">
            <a:spAutoFit/>
          </a:bodyPr>
          <a:lstStyle/>
          <a:p>
            <a:pPr algn="ctr"/>
            <a:r>
              <a:rPr sz="4000" b="1" i="0">
                <a:solidFill>
                  <a:srgbClr val="FFFFFF"/>
                </a:solidFill>
              </a:rPr>
              <a:t>Enterprise Service Management</a:t>
            </a:r>
          </a:p>
        </p:txBody>
      </p:sp>
      <p:sp>
        <p:nvSpPr>
          <p:cNvPr id="5" name="TextBox 4"/>
          <p:cNvSpPr txBox="1"/>
          <p:nvPr/>
        </p:nvSpPr>
        <p:spPr>
          <a:xfrm>
            <a:off x="731520" y="1874519"/>
            <a:ext cx="10515600" cy="594360"/>
          </a:xfrm>
          <a:prstGeom prst="rect">
            <a:avLst/>
          </a:prstGeom>
          <a:noFill/>
        </p:spPr>
        <p:txBody>
          <a:bodyPr wrap="square">
            <a:spAutoFit/>
          </a:bodyPr>
          <a:lstStyle/>
          <a:p>
            <a:pPr algn="ctr"/>
            <a:r>
              <a:rPr sz="2000" b="0" i="0">
                <a:solidFill>
                  <a:srgbClr val="B8D4F0"/>
                </a:solidFill>
              </a:rPr>
              <a:t>Van aanvraag tot levering — architectuur, modellen &amp; implementatie</a:t>
            </a:r>
          </a:p>
        </p:txBody>
      </p:sp>
      <p:sp>
        <p:nvSpPr>
          <p:cNvPr id="6" name="Rectangle 5"/>
          <p:cNvSpPr/>
          <p:nvPr/>
        </p:nvSpPr>
        <p:spPr>
          <a:xfrm>
            <a:off x="3840480" y="2743200"/>
            <a:ext cx="448056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63440"/>
            <a:ext cx="10515600" cy="457200"/>
          </a:xfrm>
          <a:prstGeom prst="rect">
            <a:avLst/>
          </a:prstGeom>
          <a:noFill/>
        </p:spPr>
        <p:txBody>
          <a:bodyPr wrap="square">
            <a:spAutoFit/>
          </a:bodyPr>
          <a:lstStyle/>
          <a:p>
            <a:pPr algn="ctr"/>
            <a:r>
              <a:rPr sz="1400" b="0" i="0">
                <a:solidFill>
                  <a:srgbClr val="90B8E0"/>
                </a:solidFill>
              </a:rPr>
              <a:t>Universitaire context | Maart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Agenda</a:t>
            </a:r>
          </a:p>
        </p:txBody>
      </p:sp>
      <p:sp>
        <p:nvSpPr>
          <p:cNvPr id="4" name="Rectangle 3"/>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41732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 y="1691640"/>
            <a:ext cx="841248" cy="502920"/>
          </a:xfrm>
          <a:prstGeom prst="rect">
            <a:avLst/>
          </a:prstGeom>
          <a:noFill/>
        </p:spPr>
        <p:txBody>
          <a:bodyPr wrap="square">
            <a:spAutoFit/>
          </a:bodyPr>
          <a:lstStyle/>
          <a:p>
            <a:pPr algn="ctr"/>
            <a:r>
              <a:rPr sz="1800" b="1" i="0">
                <a:solidFill>
                  <a:srgbClr val="FFFFFF"/>
                </a:solidFill>
              </a:rPr>
              <a:t>01</a:t>
            </a:r>
          </a:p>
        </p:txBody>
      </p:sp>
      <p:sp>
        <p:nvSpPr>
          <p:cNvPr id="8" name="TextBox 7"/>
          <p:cNvSpPr txBox="1"/>
          <p:nvPr/>
        </p:nvSpPr>
        <p:spPr>
          <a:xfrm>
            <a:off x="1490472" y="1737360"/>
            <a:ext cx="4434840" cy="502920"/>
          </a:xfrm>
          <a:prstGeom prst="rect">
            <a:avLst/>
          </a:prstGeom>
          <a:noFill/>
        </p:spPr>
        <p:txBody>
          <a:bodyPr wrap="square">
            <a:spAutoFit/>
          </a:bodyPr>
          <a:lstStyle/>
          <a:p>
            <a:pPr algn="l"/>
            <a:r>
              <a:rPr sz="1200" b="0" i="0">
                <a:solidFill>
                  <a:srgbClr val="1A1A2E"/>
                </a:solidFill>
              </a:rPr>
              <a:t>Wat is ESM? Van ITSM naar de hele organisatie</a:t>
            </a:r>
          </a:p>
        </p:txBody>
      </p:sp>
      <p:sp>
        <p:nvSpPr>
          <p:cNvPr id="9" name="Rectangle 8"/>
          <p:cNvSpPr/>
          <p:nvPr/>
        </p:nvSpPr>
        <p:spPr>
          <a:xfrm>
            <a:off x="6446520" y="141732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46520" y="141732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691640"/>
            <a:ext cx="841248" cy="502920"/>
          </a:xfrm>
          <a:prstGeom prst="rect">
            <a:avLst/>
          </a:prstGeom>
          <a:noFill/>
        </p:spPr>
        <p:txBody>
          <a:bodyPr wrap="square">
            <a:spAutoFit/>
          </a:bodyPr>
          <a:lstStyle/>
          <a:p>
            <a:pPr algn="ctr"/>
            <a:r>
              <a:rPr sz="1800" b="1" i="0">
                <a:solidFill>
                  <a:srgbClr val="FFFFFF"/>
                </a:solidFill>
              </a:rPr>
              <a:t>02</a:t>
            </a:r>
          </a:p>
        </p:txBody>
      </p:sp>
      <p:sp>
        <p:nvSpPr>
          <p:cNvPr id="12" name="TextBox 11"/>
          <p:cNvSpPr txBox="1"/>
          <p:nvPr/>
        </p:nvSpPr>
        <p:spPr>
          <a:xfrm>
            <a:off x="7434071" y="1737360"/>
            <a:ext cx="4434840" cy="502920"/>
          </a:xfrm>
          <a:prstGeom prst="rect">
            <a:avLst/>
          </a:prstGeom>
          <a:noFill/>
        </p:spPr>
        <p:txBody>
          <a:bodyPr wrap="square">
            <a:spAutoFit/>
          </a:bodyPr>
          <a:lstStyle/>
          <a:p>
            <a:pPr algn="l"/>
            <a:r>
              <a:rPr sz="1200" b="0" i="0">
                <a:solidFill>
                  <a:srgbClr val="1A1A2E"/>
                </a:solidFill>
              </a:rPr>
              <a:t>ESM-architectuur: van aanvraag tot levering</a:t>
            </a:r>
          </a:p>
        </p:txBody>
      </p:sp>
      <p:sp>
        <p:nvSpPr>
          <p:cNvPr id="13" name="Rectangle 12"/>
          <p:cNvSpPr/>
          <p:nvPr/>
        </p:nvSpPr>
        <p:spPr>
          <a:xfrm>
            <a:off x="502920" y="260604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60604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2880360"/>
            <a:ext cx="841248" cy="502920"/>
          </a:xfrm>
          <a:prstGeom prst="rect">
            <a:avLst/>
          </a:prstGeom>
          <a:noFill/>
        </p:spPr>
        <p:txBody>
          <a:bodyPr wrap="square">
            <a:spAutoFit/>
          </a:bodyPr>
          <a:lstStyle/>
          <a:p>
            <a:pPr algn="ctr"/>
            <a:r>
              <a:rPr sz="1800" b="1" i="0">
                <a:solidFill>
                  <a:srgbClr val="FFFFFF"/>
                </a:solidFill>
              </a:rPr>
              <a:t>03</a:t>
            </a:r>
          </a:p>
        </p:txBody>
      </p:sp>
      <p:sp>
        <p:nvSpPr>
          <p:cNvPr id="16" name="TextBox 15"/>
          <p:cNvSpPr txBox="1"/>
          <p:nvPr/>
        </p:nvSpPr>
        <p:spPr>
          <a:xfrm>
            <a:off x="1490472" y="2926080"/>
            <a:ext cx="4434840" cy="502920"/>
          </a:xfrm>
          <a:prstGeom prst="rect">
            <a:avLst/>
          </a:prstGeom>
          <a:noFill/>
        </p:spPr>
        <p:txBody>
          <a:bodyPr wrap="square">
            <a:spAutoFit/>
          </a:bodyPr>
          <a:lstStyle/>
          <a:p>
            <a:pPr algn="l"/>
            <a:r>
              <a:rPr sz="1200" b="0" i="0">
                <a:solidFill>
                  <a:srgbClr val="1A1A2E"/>
                </a:solidFill>
              </a:rPr>
              <a:t>De service catalogus &amp; het request model</a:t>
            </a:r>
          </a:p>
        </p:txBody>
      </p:sp>
      <p:sp>
        <p:nvSpPr>
          <p:cNvPr id="17" name="Rectangle 16"/>
          <p:cNvSpPr/>
          <p:nvPr/>
        </p:nvSpPr>
        <p:spPr>
          <a:xfrm>
            <a:off x="6446520" y="260604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260604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7" y="2880360"/>
            <a:ext cx="841248" cy="502920"/>
          </a:xfrm>
          <a:prstGeom prst="rect">
            <a:avLst/>
          </a:prstGeom>
          <a:noFill/>
        </p:spPr>
        <p:txBody>
          <a:bodyPr wrap="square">
            <a:spAutoFit/>
          </a:bodyPr>
          <a:lstStyle/>
          <a:p>
            <a:pPr algn="ctr"/>
            <a:r>
              <a:rPr sz="1800" b="1" i="0">
                <a:solidFill>
                  <a:srgbClr val="FFFFFF"/>
                </a:solidFill>
              </a:rPr>
              <a:t>04</a:t>
            </a:r>
          </a:p>
        </p:txBody>
      </p:sp>
      <p:sp>
        <p:nvSpPr>
          <p:cNvPr id="20" name="TextBox 19"/>
          <p:cNvSpPr txBox="1"/>
          <p:nvPr/>
        </p:nvSpPr>
        <p:spPr>
          <a:xfrm>
            <a:off x="7434071" y="2926080"/>
            <a:ext cx="4434840" cy="502920"/>
          </a:xfrm>
          <a:prstGeom prst="rect">
            <a:avLst/>
          </a:prstGeom>
          <a:noFill/>
        </p:spPr>
        <p:txBody>
          <a:bodyPr wrap="square">
            <a:spAutoFit/>
          </a:bodyPr>
          <a:lstStyle/>
          <a:p>
            <a:pPr algn="l"/>
            <a:r>
              <a:rPr sz="1200" b="0" i="0">
                <a:solidFill>
                  <a:srgbClr val="1A1A2E"/>
                </a:solidFill>
              </a:rPr>
              <a:t>Domeinmodel: IT · HR · Facilitair · Finance</a:t>
            </a:r>
          </a:p>
        </p:txBody>
      </p:sp>
      <p:sp>
        <p:nvSpPr>
          <p:cNvPr id="21" name="Rectangle 20"/>
          <p:cNvSpPr/>
          <p:nvPr/>
        </p:nvSpPr>
        <p:spPr>
          <a:xfrm>
            <a:off x="502920" y="379476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79476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4069080"/>
            <a:ext cx="841248" cy="502920"/>
          </a:xfrm>
          <a:prstGeom prst="rect">
            <a:avLst/>
          </a:prstGeom>
          <a:noFill/>
        </p:spPr>
        <p:txBody>
          <a:bodyPr wrap="square">
            <a:spAutoFit/>
          </a:bodyPr>
          <a:lstStyle/>
          <a:p>
            <a:pPr algn="ctr"/>
            <a:r>
              <a:rPr sz="1800" b="1" i="0">
                <a:solidFill>
                  <a:srgbClr val="FFFFFF"/>
                </a:solidFill>
              </a:rPr>
              <a:t>05</a:t>
            </a:r>
          </a:p>
        </p:txBody>
      </p:sp>
      <p:sp>
        <p:nvSpPr>
          <p:cNvPr id="24" name="TextBox 23"/>
          <p:cNvSpPr txBox="1"/>
          <p:nvPr/>
        </p:nvSpPr>
        <p:spPr>
          <a:xfrm>
            <a:off x="1490472" y="4114800"/>
            <a:ext cx="4434840" cy="502920"/>
          </a:xfrm>
          <a:prstGeom prst="rect">
            <a:avLst/>
          </a:prstGeom>
          <a:noFill/>
        </p:spPr>
        <p:txBody>
          <a:bodyPr wrap="square">
            <a:spAutoFit/>
          </a:bodyPr>
          <a:lstStyle/>
          <a:p>
            <a:pPr algn="l"/>
            <a:r>
              <a:rPr sz="1200" b="0" i="0">
                <a:solidFill>
                  <a:srgbClr val="1A1A2E"/>
                </a:solidFill>
              </a:rPr>
              <a:t>Casus: onboarding externe medewerker</a:t>
            </a:r>
          </a:p>
        </p:txBody>
      </p:sp>
      <p:sp>
        <p:nvSpPr>
          <p:cNvPr id="25" name="Rectangle 24"/>
          <p:cNvSpPr/>
          <p:nvPr/>
        </p:nvSpPr>
        <p:spPr>
          <a:xfrm>
            <a:off x="6446520" y="379476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46520" y="379476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7" y="4069080"/>
            <a:ext cx="841248" cy="502920"/>
          </a:xfrm>
          <a:prstGeom prst="rect">
            <a:avLst/>
          </a:prstGeom>
          <a:noFill/>
        </p:spPr>
        <p:txBody>
          <a:bodyPr wrap="square">
            <a:spAutoFit/>
          </a:bodyPr>
          <a:lstStyle/>
          <a:p>
            <a:pPr algn="ctr"/>
            <a:r>
              <a:rPr sz="1800" b="1" i="0">
                <a:solidFill>
                  <a:srgbClr val="FFFFFF"/>
                </a:solidFill>
              </a:rPr>
              <a:t>06</a:t>
            </a:r>
          </a:p>
        </p:txBody>
      </p:sp>
      <p:sp>
        <p:nvSpPr>
          <p:cNvPr id="28" name="TextBox 27"/>
          <p:cNvSpPr txBox="1"/>
          <p:nvPr/>
        </p:nvSpPr>
        <p:spPr>
          <a:xfrm>
            <a:off x="7434071" y="4114800"/>
            <a:ext cx="4434840" cy="502920"/>
          </a:xfrm>
          <a:prstGeom prst="rect">
            <a:avLst/>
          </a:prstGeom>
          <a:noFill/>
        </p:spPr>
        <p:txBody>
          <a:bodyPr wrap="square">
            <a:spAutoFit/>
          </a:bodyPr>
          <a:lstStyle/>
          <a:p>
            <a:pPr algn="l"/>
            <a:r>
              <a:rPr sz="1200" b="0" i="0">
                <a:solidFill>
                  <a:srgbClr val="1A1A2E"/>
                </a:solidFill>
              </a:rPr>
              <a:t>AI &amp; automatisering in ESM</a:t>
            </a:r>
          </a:p>
        </p:txBody>
      </p:sp>
      <p:sp>
        <p:nvSpPr>
          <p:cNvPr id="29" name="Rectangle 28"/>
          <p:cNvSpPr/>
          <p:nvPr/>
        </p:nvSpPr>
        <p:spPr>
          <a:xfrm>
            <a:off x="502920" y="498348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498348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5257800"/>
            <a:ext cx="841248" cy="502920"/>
          </a:xfrm>
          <a:prstGeom prst="rect">
            <a:avLst/>
          </a:prstGeom>
          <a:noFill/>
        </p:spPr>
        <p:txBody>
          <a:bodyPr wrap="square">
            <a:spAutoFit/>
          </a:bodyPr>
          <a:lstStyle/>
          <a:p>
            <a:pPr algn="ctr"/>
            <a:r>
              <a:rPr sz="1800" b="1" i="0">
                <a:solidFill>
                  <a:srgbClr val="FFFFFF"/>
                </a:solidFill>
              </a:rPr>
              <a:t>07</a:t>
            </a:r>
          </a:p>
        </p:txBody>
      </p:sp>
      <p:sp>
        <p:nvSpPr>
          <p:cNvPr id="32" name="TextBox 31"/>
          <p:cNvSpPr txBox="1"/>
          <p:nvPr/>
        </p:nvSpPr>
        <p:spPr>
          <a:xfrm>
            <a:off x="1490472" y="5303520"/>
            <a:ext cx="4434840" cy="502920"/>
          </a:xfrm>
          <a:prstGeom prst="rect">
            <a:avLst/>
          </a:prstGeom>
          <a:noFill/>
        </p:spPr>
        <p:txBody>
          <a:bodyPr wrap="square">
            <a:spAutoFit/>
          </a:bodyPr>
          <a:lstStyle/>
          <a:p>
            <a:pPr algn="l"/>
            <a:r>
              <a:rPr sz="1200" b="0" i="0">
                <a:solidFill>
                  <a:srgbClr val="1A1A2E"/>
                </a:solidFill>
              </a:rPr>
              <a:t>Platformlandschap</a:t>
            </a:r>
          </a:p>
        </p:txBody>
      </p:sp>
      <p:sp>
        <p:nvSpPr>
          <p:cNvPr id="33" name="Rectangle 32"/>
          <p:cNvSpPr/>
          <p:nvPr/>
        </p:nvSpPr>
        <p:spPr>
          <a:xfrm>
            <a:off x="6446520" y="4983480"/>
            <a:ext cx="5577840" cy="105156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46520" y="4983480"/>
            <a:ext cx="868680" cy="10515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7" y="5257800"/>
            <a:ext cx="841248" cy="502920"/>
          </a:xfrm>
          <a:prstGeom prst="rect">
            <a:avLst/>
          </a:prstGeom>
          <a:noFill/>
        </p:spPr>
        <p:txBody>
          <a:bodyPr wrap="square">
            <a:spAutoFit/>
          </a:bodyPr>
          <a:lstStyle/>
          <a:p>
            <a:pPr algn="ctr"/>
            <a:r>
              <a:rPr sz="1800" b="1" i="0">
                <a:solidFill>
                  <a:srgbClr val="FFFFFF"/>
                </a:solidFill>
              </a:rPr>
              <a:t>08</a:t>
            </a:r>
          </a:p>
        </p:txBody>
      </p:sp>
      <p:sp>
        <p:nvSpPr>
          <p:cNvPr id="36" name="TextBox 35"/>
          <p:cNvSpPr txBox="1"/>
          <p:nvPr/>
        </p:nvSpPr>
        <p:spPr>
          <a:xfrm>
            <a:off x="7434071" y="5303520"/>
            <a:ext cx="4434840" cy="502920"/>
          </a:xfrm>
          <a:prstGeom prst="rect">
            <a:avLst/>
          </a:prstGeom>
          <a:noFill/>
        </p:spPr>
        <p:txBody>
          <a:bodyPr wrap="square">
            <a:spAutoFit/>
          </a:bodyPr>
          <a:lstStyle/>
          <a:p>
            <a:pPr algn="l"/>
            <a:r>
              <a:rPr sz="1200" b="0" i="0">
                <a:solidFill>
                  <a:srgbClr val="1A1A2E"/>
                </a:solidFill>
              </a:rPr>
              <a:t>Implementatieroadmap &amp; aanbevelingen</a:t>
            </a:r>
          </a:p>
        </p:txBody>
      </p:sp>
      <p:sp>
        <p:nvSpPr>
          <p:cNvPr id="37" name="TextBox 36"/>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Wat is Enterprise Service Management?</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Van IT-servicedesk naar organisatiebrede dienstverlening</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25880"/>
            <a:ext cx="5394960" cy="5257800"/>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417320"/>
            <a:ext cx="5120640" cy="411480"/>
          </a:xfrm>
          <a:prstGeom prst="rect">
            <a:avLst/>
          </a:prstGeom>
          <a:noFill/>
        </p:spPr>
        <p:txBody>
          <a:bodyPr wrap="square">
            <a:spAutoFit/>
          </a:bodyPr>
          <a:lstStyle/>
          <a:p>
            <a:pPr algn="l"/>
            <a:r>
              <a:rPr sz="1300" b="1" i="0">
                <a:solidFill>
                  <a:srgbClr val="0050A0"/>
                </a:solidFill>
              </a:rPr>
              <a:t>🖥️  ITSM (traditioneel)</a:t>
            </a:r>
          </a:p>
        </p:txBody>
      </p:sp>
      <p:sp>
        <p:nvSpPr>
          <p:cNvPr id="8" name="TextBox 7"/>
          <p:cNvSpPr txBox="1"/>
          <p:nvPr/>
        </p:nvSpPr>
        <p:spPr>
          <a:xfrm>
            <a:off x="411480" y="1920240"/>
            <a:ext cx="5120640" cy="475488"/>
          </a:xfrm>
          <a:prstGeom prst="rect">
            <a:avLst/>
          </a:prstGeom>
          <a:noFill/>
        </p:spPr>
        <p:txBody>
          <a:bodyPr wrap="square">
            <a:spAutoFit/>
          </a:bodyPr>
          <a:lstStyle/>
          <a:p>
            <a:pPr algn="l"/>
            <a:r>
              <a:rPr sz="1150" b="0" i="0">
                <a:solidFill>
                  <a:srgbClr val="1A1A2E"/>
                </a:solidFill>
              </a:rPr>
              <a:t>• Gericht op IT-afdeling</a:t>
            </a:r>
          </a:p>
        </p:txBody>
      </p:sp>
      <p:sp>
        <p:nvSpPr>
          <p:cNvPr id="9" name="TextBox 8"/>
          <p:cNvSpPr txBox="1"/>
          <p:nvPr/>
        </p:nvSpPr>
        <p:spPr>
          <a:xfrm>
            <a:off x="411480" y="2450592"/>
            <a:ext cx="5120640" cy="475488"/>
          </a:xfrm>
          <a:prstGeom prst="rect">
            <a:avLst/>
          </a:prstGeom>
          <a:noFill/>
        </p:spPr>
        <p:txBody>
          <a:bodyPr wrap="square">
            <a:spAutoFit/>
          </a:bodyPr>
          <a:lstStyle/>
          <a:p>
            <a:pPr algn="l"/>
            <a:r>
              <a:rPr sz="1150" b="0" i="0">
                <a:solidFill>
                  <a:srgbClr val="1A1A2E"/>
                </a:solidFill>
              </a:rPr>
              <a:t>• Incident, Change, Problem, CMDB</a:t>
            </a:r>
          </a:p>
        </p:txBody>
      </p:sp>
      <p:sp>
        <p:nvSpPr>
          <p:cNvPr id="10" name="TextBox 9"/>
          <p:cNvSpPr txBox="1"/>
          <p:nvPr/>
        </p:nvSpPr>
        <p:spPr>
          <a:xfrm>
            <a:off x="411480" y="2980944"/>
            <a:ext cx="5120640" cy="475488"/>
          </a:xfrm>
          <a:prstGeom prst="rect">
            <a:avLst/>
          </a:prstGeom>
          <a:noFill/>
        </p:spPr>
        <p:txBody>
          <a:bodyPr wrap="square">
            <a:spAutoFit/>
          </a:bodyPr>
          <a:lstStyle/>
          <a:p>
            <a:pPr algn="l"/>
            <a:r>
              <a:rPr sz="1150" b="0" i="0">
                <a:solidFill>
                  <a:srgbClr val="1A1A2E"/>
                </a:solidFill>
              </a:rPr>
              <a:t>• Gebruikers = interne IT-klanten</a:t>
            </a:r>
          </a:p>
        </p:txBody>
      </p:sp>
      <p:sp>
        <p:nvSpPr>
          <p:cNvPr id="11" name="TextBox 10"/>
          <p:cNvSpPr txBox="1"/>
          <p:nvPr/>
        </p:nvSpPr>
        <p:spPr>
          <a:xfrm>
            <a:off x="411480" y="3511296"/>
            <a:ext cx="5120640" cy="475488"/>
          </a:xfrm>
          <a:prstGeom prst="rect">
            <a:avLst/>
          </a:prstGeom>
          <a:noFill/>
        </p:spPr>
        <p:txBody>
          <a:bodyPr wrap="square">
            <a:spAutoFit/>
          </a:bodyPr>
          <a:lstStyle/>
          <a:p>
            <a:pPr algn="l"/>
            <a:r>
              <a:rPr sz="1150" b="0" i="0">
                <a:solidFill>
                  <a:srgbClr val="1A1A2E"/>
                </a:solidFill>
              </a:rPr>
              <a:t>• Tool: ServiceNow / TOPdesk</a:t>
            </a:r>
          </a:p>
        </p:txBody>
      </p:sp>
      <p:sp>
        <p:nvSpPr>
          <p:cNvPr id="12" name="TextBox 11"/>
          <p:cNvSpPr txBox="1"/>
          <p:nvPr/>
        </p:nvSpPr>
        <p:spPr>
          <a:xfrm>
            <a:off x="411480" y="4041648"/>
            <a:ext cx="5120640" cy="475488"/>
          </a:xfrm>
          <a:prstGeom prst="rect">
            <a:avLst/>
          </a:prstGeom>
          <a:noFill/>
        </p:spPr>
        <p:txBody>
          <a:bodyPr wrap="square">
            <a:spAutoFit/>
          </a:bodyPr>
          <a:lstStyle/>
          <a:p>
            <a:pPr algn="l"/>
            <a:r>
              <a:rPr sz="1150" b="0" i="0">
                <a:solidFill>
                  <a:srgbClr val="1A1A2E"/>
                </a:solidFill>
              </a:rPr>
              <a:t>• SLA's voor IT-systemen</a:t>
            </a:r>
          </a:p>
        </p:txBody>
      </p:sp>
      <p:sp>
        <p:nvSpPr>
          <p:cNvPr id="13" name="TextBox 12"/>
          <p:cNvSpPr txBox="1"/>
          <p:nvPr/>
        </p:nvSpPr>
        <p:spPr>
          <a:xfrm>
            <a:off x="411480" y="4572000"/>
            <a:ext cx="5120640" cy="475488"/>
          </a:xfrm>
          <a:prstGeom prst="rect">
            <a:avLst/>
          </a:prstGeom>
          <a:noFill/>
        </p:spPr>
        <p:txBody>
          <a:bodyPr wrap="square">
            <a:spAutoFit/>
          </a:bodyPr>
          <a:lstStyle/>
          <a:p>
            <a:pPr algn="l"/>
            <a:r>
              <a:rPr sz="1150" b="0" i="0">
                <a:solidFill>
                  <a:srgbClr val="1A1A2E"/>
                </a:solidFill>
              </a:rPr>
              <a:t>• Beheerd door IT-afdeling</a:t>
            </a:r>
          </a:p>
        </p:txBody>
      </p:sp>
      <p:sp>
        <p:nvSpPr>
          <p:cNvPr id="14" name="Rectangle 13"/>
          <p:cNvSpPr/>
          <p:nvPr/>
        </p:nvSpPr>
        <p:spPr>
          <a:xfrm>
            <a:off x="6217920" y="1325880"/>
            <a:ext cx="5669280" cy="5257800"/>
          </a:xfrm>
          <a:prstGeom prst="rect">
            <a:avLst/>
          </a:prstGeom>
          <a:solidFill>
            <a:srgbClr val="FFFFFF"/>
          </a:solidFill>
          <a:ln w="254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417320"/>
            <a:ext cx="5394960" cy="411480"/>
          </a:xfrm>
          <a:prstGeom prst="rect">
            <a:avLst/>
          </a:prstGeom>
          <a:noFill/>
        </p:spPr>
        <p:txBody>
          <a:bodyPr wrap="square">
            <a:spAutoFit/>
          </a:bodyPr>
          <a:lstStyle/>
          <a:p>
            <a:pPr algn="l"/>
            <a:r>
              <a:rPr sz="1300" b="1" i="0">
                <a:solidFill>
                  <a:srgbClr val="007050"/>
                </a:solidFill>
              </a:rPr>
              <a:t>🏛️  ESM (enterprise-breed)</a:t>
            </a:r>
          </a:p>
        </p:txBody>
      </p:sp>
      <p:sp>
        <p:nvSpPr>
          <p:cNvPr id="16" name="TextBox 15"/>
          <p:cNvSpPr txBox="1"/>
          <p:nvPr/>
        </p:nvSpPr>
        <p:spPr>
          <a:xfrm>
            <a:off x="6355080" y="1920240"/>
            <a:ext cx="5349240" cy="475488"/>
          </a:xfrm>
          <a:prstGeom prst="rect">
            <a:avLst/>
          </a:prstGeom>
          <a:noFill/>
        </p:spPr>
        <p:txBody>
          <a:bodyPr wrap="square">
            <a:spAutoFit/>
          </a:bodyPr>
          <a:lstStyle/>
          <a:p>
            <a:pPr algn="l"/>
            <a:r>
              <a:rPr sz="1150" b="0" i="0">
                <a:solidFill>
                  <a:srgbClr val="1A1A2E"/>
                </a:solidFill>
              </a:rPr>
              <a:t>• Alle bedrijfsdomeinen: IT, HR, Facilitair, Finance, Legal</a:t>
            </a:r>
          </a:p>
        </p:txBody>
      </p:sp>
      <p:sp>
        <p:nvSpPr>
          <p:cNvPr id="17" name="TextBox 16"/>
          <p:cNvSpPr txBox="1"/>
          <p:nvPr/>
        </p:nvSpPr>
        <p:spPr>
          <a:xfrm>
            <a:off x="6355080" y="2450592"/>
            <a:ext cx="5349240" cy="475488"/>
          </a:xfrm>
          <a:prstGeom prst="rect">
            <a:avLst/>
          </a:prstGeom>
          <a:noFill/>
        </p:spPr>
        <p:txBody>
          <a:bodyPr wrap="square">
            <a:spAutoFit/>
          </a:bodyPr>
          <a:lstStyle/>
          <a:p>
            <a:pPr algn="l"/>
            <a:r>
              <a:rPr sz="1150" b="0" i="0">
                <a:solidFill>
                  <a:srgbClr val="1A1A2E"/>
                </a:solidFill>
              </a:rPr>
              <a:t>• Eén portaal voor de hele organisatie</a:t>
            </a:r>
          </a:p>
        </p:txBody>
      </p:sp>
      <p:sp>
        <p:nvSpPr>
          <p:cNvPr id="18" name="TextBox 17"/>
          <p:cNvSpPr txBox="1"/>
          <p:nvPr/>
        </p:nvSpPr>
        <p:spPr>
          <a:xfrm>
            <a:off x="6355080" y="2980944"/>
            <a:ext cx="5349240" cy="475488"/>
          </a:xfrm>
          <a:prstGeom prst="rect">
            <a:avLst/>
          </a:prstGeom>
          <a:noFill/>
        </p:spPr>
        <p:txBody>
          <a:bodyPr wrap="square">
            <a:spAutoFit/>
          </a:bodyPr>
          <a:lstStyle/>
          <a:p>
            <a:pPr algn="l"/>
            <a:r>
              <a:rPr sz="1150" b="0" i="0">
                <a:solidFill>
                  <a:srgbClr val="1A1A2E"/>
                </a:solidFill>
              </a:rPr>
              <a:t>• Medewerker, student én externe als klant</a:t>
            </a:r>
          </a:p>
        </p:txBody>
      </p:sp>
      <p:sp>
        <p:nvSpPr>
          <p:cNvPr id="19" name="TextBox 18"/>
          <p:cNvSpPr txBox="1"/>
          <p:nvPr/>
        </p:nvSpPr>
        <p:spPr>
          <a:xfrm>
            <a:off x="6355080" y="3511296"/>
            <a:ext cx="5349240" cy="475488"/>
          </a:xfrm>
          <a:prstGeom prst="rect">
            <a:avLst/>
          </a:prstGeom>
          <a:noFill/>
        </p:spPr>
        <p:txBody>
          <a:bodyPr wrap="square">
            <a:spAutoFit/>
          </a:bodyPr>
          <a:lstStyle/>
          <a:p>
            <a:pPr algn="l"/>
            <a:r>
              <a:rPr sz="1150" b="0" i="0">
                <a:solidFill>
                  <a:srgbClr val="1A1A2E"/>
                </a:solidFill>
              </a:rPr>
              <a:t>• Zelfde platform, meerdere domeinen</a:t>
            </a:r>
          </a:p>
        </p:txBody>
      </p:sp>
      <p:sp>
        <p:nvSpPr>
          <p:cNvPr id="20" name="TextBox 19"/>
          <p:cNvSpPr txBox="1"/>
          <p:nvPr/>
        </p:nvSpPr>
        <p:spPr>
          <a:xfrm>
            <a:off x="6355080" y="4041648"/>
            <a:ext cx="5349240" cy="475488"/>
          </a:xfrm>
          <a:prstGeom prst="rect">
            <a:avLst/>
          </a:prstGeom>
          <a:noFill/>
        </p:spPr>
        <p:txBody>
          <a:bodyPr wrap="square">
            <a:spAutoFit/>
          </a:bodyPr>
          <a:lstStyle/>
          <a:p>
            <a:pPr algn="l"/>
            <a:r>
              <a:rPr sz="1150" b="0" i="0">
                <a:solidFill>
                  <a:srgbClr val="1A1A2E"/>
                </a:solidFill>
              </a:rPr>
              <a:t>• SLA's over de volledige service-keten</a:t>
            </a:r>
          </a:p>
        </p:txBody>
      </p:sp>
      <p:sp>
        <p:nvSpPr>
          <p:cNvPr id="21" name="TextBox 20"/>
          <p:cNvSpPr txBox="1"/>
          <p:nvPr/>
        </p:nvSpPr>
        <p:spPr>
          <a:xfrm>
            <a:off x="6355080" y="4572000"/>
            <a:ext cx="5349240" cy="475488"/>
          </a:xfrm>
          <a:prstGeom prst="rect">
            <a:avLst/>
          </a:prstGeom>
          <a:noFill/>
        </p:spPr>
        <p:txBody>
          <a:bodyPr wrap="square">
            <a:spAutoFit/>
          </a:bodyPr>
          <a:lstStyle/>
          <a:p>
            <a:pPr algn="l"/>
            <a:r>
              <a:rPr sz="1150" b="0" i="0">
                <a:solidFill>
                  <a:srgbClr val="1A1A2E"/>
                </a:solidFill>
              </a:rPr>
              <a:t>• Gezamenlijk eigenaarschap (shared service)</a:t>
            </a:r>
          </a:p>
        </p:txBody>
      </p:sp>
      <p:sp>
        <p:nvSpPr>
          <p:cNvPr id="22" name="Rectangle 21"/>
          <p:cNvSpPr/>
          <p:nvPr/>
        </p:nvSpPr>
        <p:spPr>
          <a:xfrm>
            <a:off x="274320" y="6263640"/>
            <a:ext cx="11612880" cy="25603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6291072"/>
            <a:ext cx="11338560" cy="201168"/>
          </a:xfrm>
          <a:prstGeom prst="rect">
            <a:avLst/>
          </a:prstGeom>
          <a:noFill/>
        </p:spPr>
        <p:txBody>
          <a:bodyPr wrap="square">
            <a:spAutoFit/>
          </a:bodyPr>
          <a:lstStyle/>
          <a:p>
            <a:pPr algn="l"/>
            <a:r>
              <a:rPr sz="1000" b="1" i="0">
                <a:solidFill>
                  <a:srgbClr val="FFFFFF"/>
                </a:solidFill>
              </a:rPr>
              <a:t>💡  ESM = dezelfde ITSM-principes (ITIL) toegepast op de gehele organisatie, via één geïntegreerd platform.</a:t>
            </a:r>
          </a:p>
        </p:txBody>
      </p:sp>
      <p:sp>
        <p:nvSpPr>
          <p:cNvPr id="24" name="TextBox 23"/>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ESM-architectuur: Van Aanvraag tot Levering</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Zeven lagen — van portaal tot rapportage</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25880"/>
            <a:ext cx="11612880" cy="722376"/>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99032"/>
            <a:ext cx="3200400" cy="502920"/>
          </a:xfrm>
          <a:prstGeom prst="rect">
            <a:avLst/>
          </a:prstGeom>
          <a:noFill/>
        </p:spPr>
        <p:txBody>
          <a:bodyPr wrap="square">
            <a:spAutoFit/>
          </a:bodyPr>
          <a:lstStyle/>
          <a:p>
            <a:pPr algn="l"/>
            <a:r>
              <a:rPr sz="1200" b="1" i="0">
                <a:solidFill>
                  <a:srgbClr val="FFFFFF"/>
                </a:solidFill>
              </a:rPr>
              <a:t>1. Service Portaal</a:t>
            </a:r>
          </a:p>
        </p:txBody>
      </p:sp>
      <p:sp>
        <p:nvSpPr>
          <p:cNvPr id="8" name="TextBox 7"/>
          <p:cNvSpPr txBox="1"/>
          <p:nvPr/>
        </p:nvSpPr>
        <p:spPr>
          <a:xfrm>
            <a:off x="3840480" y="1435607"/>
            <a:ext cx="7863840" cy="502920"/>
          </a:xfrm>
          <a:prstGeom prst="rect">
            <a:avLst/>
          </a:prstGeom>
          <a:noFill/>
        </p:spPr>
        <p:txBody>
          <a:bodyPr wrap="square">
            <a:spAutoFit/>
          </a:bodyPr>
          <a:lstStyle/>
          <a:p>
            <a:pPr algn="l"/>
            <a:r>
              <a:rPr sz="1100" b="0" i="0">
                <a:solidFill>
                  <a:srgbClr val="FFFFFF"/>
                </a:solidFill>
              </a:rPr>
              <a:t>Self-service, chatbot, mobiel — één gezicht voor alle aanvragen</a:t>
            </a:r>
          </a:p>
        </p:txBody>
      </p:sp>
      <p:sp>
        <p:nvSpPr>
          <p:cNvPr id="9" name="TextBox 8"/>
          <p:cNvSpPr txBox="1"/>
          <p:nvPr/>
        </p:nvSpPr>
        <p:spPr>
          <a:xfrm>
            <a:off x="5852160" y="1892807"/>
            <a:ext cx="457200" cy="228600"/>
          </a:xfrm>
          <a:prstGeom prst="rect">
            <a:avLst/>
          </a:prstGeom>
          <a:noFill/>
        </p:spPr>
        <p:txBody>
          <a:bodyPr wrap="square">
            <a:spAutoFit/>
          </a:bodyPr>
          <a:lstStyle/>
          <a:p>
            <a:pPr algn="ctr"/>
            <a:r>
              <a:rPr sz="900" b="0" i="0">
                <a:solidFill>
                  <a:srgbClr val="FFFFFF"/>
                </a:solidFill>
              </a:rPr>
              <a:t>▼</a:t>
            </a:r>
          </a:p>
        </p:txBody>
      </p:sp>
      <p:sp>
        <p:nvSpPr>
          <p:cNvPr id="10" name="Rectangle 9"/>
          <p:cNvSpPr/>
          <p:nvPr/>
        </p:nvSpPr>
        <p:spPr>
          <a:xfrm>
            <a:off x="274320" y="2093976"/>
            <a:ext cx="11612880" cy="7223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3200400" cy="502920"/>
          </a:xfrm>
          <a:prstGeom prst="rect">
            <a:avLst/>
          </a:prstGeom>
          <a:noFill/>
        </p:spPr>
        <p:txBody>
          <a:bodyPr wrap="square">
            <a:spAutoFit/>
          </a:bodyPr>
          <a:lstStyle/>
          <a:p>
            <a:pPr algn="l"/>
            <a:r>
              <a:rPr sz="1200" b="1" i="0">
                <a:solidFill>
                  <a:srgbClr val="FFFFFF"/>
                </a:solidFill>
              </a:rPr>
              <a:t>2. Service Catalogus</a:t>
            </a:r>
          </a:p>
        </p:txBody>
      </p:sp>
      <p:sp>
        <p:nvSpPr>
          <p:cNvPr id="12" name="TextBox 11"/>
          <p:cNvSpPr txBox="1"/>
          <p:nvPr/>
        </p:nvSpPr>
        <p:spPr>
          <a:xfrm>
            <a:off x="3840480" y="2203704"/>
            <a:ext cx="7863840" cy="502920"/>
          </a:xfrm>
          <a:prstGeom prst="rect">
            <a:avLst/>
          </a:prstGeom>
          <a:noFill/>
        </p:spPr>
        <p:txBody>
          <a:bodyPr wrap="square">
            <a:spAutoFit/>
          </a:bodyPr>
          <a:lstStyle/>
          <a:p>
            <a:pPr algn="l"/>
            <a:r>
              <a:rPr sz="1100" b="0" i="0">
                <a:solidFill>
                  <a:srgbClr val="FFFFFF"/>
                </a:solidFill>
              </a:rPr>
              <a:t>Gestandaardiseerde diensten met SLA, formulier en prijs</a:t>
            </a:r>
          </a:p>
        </p:txBody>
      </p:sp>
      <p:sp>
        <p:nvSpPr>
          <p:cNvPr id="13" name="TextBox 12"/>
          <p:cNvSpPr txBox="1"/>
          <p:nvPr/>
        </p:nvSpPr>
        <p:spPr>
          <a:xfrm>
            <a:off x="5852160" y="2660904"/>
            <a:ext cx="457200" cy="228600"/>
          </a:xfrm>
          <a:prstGeom prst="rect">
            <a:avLst/>
          </a:prstGeom>
          <a:noFill/>
        </p:spPr>
        <p:txBody>
          <a:bodyPr wrap="square">
            <a:spAutoFit/>
          </a:bodyPr>
          <a:lstStyle/>
          <a:p>
            <a:pPr algn="ctr"/>
            <a:r>
              <a:rPr sz="900" b="0" i="0">
                <a:solidFill>
                  <a:srgbClr val="FFFFFF"/>
                </a:solidFill>
              </a:rPr>
              <a:t>▼</a:t>
            </a:r>
          </a:p>
        </p:txBody>
      </p:sp>
      <p:sp>
        <p:nvSpPr>
          <p:cNvPr id="14" name="Rectangle 13"/>
          <p:cNvSpPr/>
          <p:nvPr/>
        </p:nvSpPr>
        <p:spPr>
          <a:xfrm>
            <a:off x="274320" y="2862072"/>
            <a:ext cx="11612880" cy="722376"/>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35224"/>
            <a:ext cx="3200400" cy="502920"/>
          </a:xfrm>
          <a:prstGeom prst="rect">
            <a:avLst/>
          </a:prstGeom>
          <a:noFill/>
        </p:spPr>
        <p:txBody>
          <a:bodyPr wrap="square">
            <a:spAutoFit/>
          </a:bodyPr>
          <a:lstStyle/>
          <a:p>
            <a:pPr algn="l"/>
            <a:r>
              <a:rPr sz="1200" b="1" i="0">
                <a:solidFill>
                  <a:srgbClr val="FFFFFF"/>
                </a:solidFill>
              </a:rPr>
              <a:t>3. Workflow Engine</a:t>
            </a:r>
          </a:p>
        </p:txBody>
      </p:sp>
      <p:sp>
        <p:nvSpPr>
          <p:cNvPr id="16" name="TextBox 15"/>
          <p:cNvSpPr txBox="1"/>
          <p:nvPr/>
        </p:nvSpPr>
        <p:spPr>
          <a:xfrm>
            <a:off x="3840480" y="2971800"/>
            <a:ext cx="7863840" cy="502920"/>
          </a:xfrm>
          <a:prstGeom prst="rect">
            <a:avLst/>
          </a:prstGeom>
          <a:noFill/>
        </p:spPr>
        <p:txBody>
          <a:bodyPr wrap="square">
            <a:spAutoFit/>
          </a:bodyPr>
          <a:lstStyle/>
          <a:p>
            <a:pPr algn="l"/>
            <a:r>
              <a:rPr sz="1100" b="0" i="0">
                <a:solidFill>
                  <a:srgbClr val="FFFFFF"/>
                </a:solidFill>
              </a:rPr>
              <a:t>Routing, goedkeuring, escalatie, SLA-bewaking, AI-triage</a:t>
            </a:r>
          </a:p>
        </p:txBody>
      </p:sp>
      <p:sp>
        <p:nvSpPr>
          <p:cNvPr id="17" name="TextBox 16"/>
          <p:cNvSpPr txBox="1"/>
          <p:nvPr/>
        </p:nvSpPr>
        <p:spPr>
          <a:xfrm>
            <a:off x="5852160" y="3429000"/>
            <a:ext cx="457200" cy="228600"/>
          </a:xfrm>
          <a:prstGeom prst="rect">
            <a:avLst/>
          </a:prstGeom>
          <a:noFill/>
        </p:spPr>
        <p:txBody>
          <a:bodyPr wrap="square">
            <a:spAutoFit/>
          </a:bodyPr>
          <a:lstStyle/>
          <a:p>
            <a:pPr algn="ctr"/>
            <a:r>
              <a:rPr sz="900" b="0" i="0">
                <a:solidFill>
                  <a:srgbClr val="FFFFFF"/>
                </a:solidFill>
              </a:rPr>
              <a:t>▼</a:t>
            </a:r>
          </a:p>
        </p:txBody>
      </p:sp>
      <p:sp>
        <p:nvSpPr>
          <p:cNvPr id="18" name="Rectangle 17"/>
          <p:cNvSpPr/>
          <p:nvPr/>
        </p:nvSpPr>
        <p:spPr>
          <a:xfrm>
            <a:off x="274320" y="3630168"/>
            <a:ext cx="11612880" cy="722376"/>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3200400" cy="502920"/>
          </a:xfrm>
          <a:prstGeom prst="rect">
            <a:avLst/>
          </a:prstGeom>
          <a:noFill/>
        </p:spPr>
        <p:txBody>
          <a:bodyPr wrap="square">
            <a:spAutoFit/>
          </a:bodyPr>
          <a:lstStyle/>
          <a:p>
            <a:pPr algn="l"/>
            <a:r>
              <a:rPr sz="1200" b="1" i="0">
                <a:solidFill>
                  <a:srgbClr val="FFFFFF"/>
                </a:solidFill>
              </a:rPr>
              <a:t>4. Fulfillment Domeinen</a:t>
            </a:r>
          </a:p>
        </p:txBody>
      </p:sp>
      <p:sp>
        <p:nvSpPr>
          <p:cNvPr id="20" name="TextBox 19"/>
          <p:cNvSpPr txBox="1"/>
          <p:nvPr/>
        </p:nvSpPr>
        <p:spPr>
          <a:xfrm>
            <a:off x="3840480" y="3739896"/>
            <a:ext cx="7863840" cy="502920"/>
          </a:xfrm>
          <a:prstGeom prst="rect">
            <a:avLst/>
          </a:prstGeom>
          <a:noFill/>
        </p:spPr>
        <p:txBody>
          <a:bodyPr wrap="square">
            <a:spAutoFit/>
          </a:bodyPr>
          <a:lstStyle/>
          <a:p>
            <a:pPr algn="l"/>
            <a:r>
              <a:rPr sz="1100" b="0" i="0">
                <a:solidFill>
                  <a:srgbClr val="FFFFFF"/>
                </a:solidFill>
              </a:rPr>
              <a:t>IT · HR · Facilitair · Finance · Legal (parallel of sequentieel)</a:t>
            </a:r>
          </a:p>
        </p:txBody>
      </p:sp>
      <p:sp>
        <p:nvSpPr>
          <p:cNvPr id="21" name="TextBox 20"/>
          <p:cNvSpPr txBox="1"/>
          <p:nvPr/>
        </p:nvSpPr>
        <p:spPr>
          <a:xfrm>
            <a:off x="5852160" y="4197096"/>
            <a:ext cx="457200" cy="228600"/>
          </a:xfrm>
          <a:prstGeom prst="rect">
            <a:avLst/>
          </a:prstGeom>
          <a:noFill/>
        </p:spPr>
        <p:txBody>
          <a:bodyPr wrap="square">
            <a:spAutoFit/>
          </a:bodyPr>
          <a:lstStyle/>
          <a:p>
            <a:pPr algn="ctr"/>
            <a:r>
              <a:rPr sz="900" b="0" i="0">
                <a:solidFill>
                  <a:srgbClr val="FFFFFF"/>
                </a:solidFill>
              </a:rPr>
              <a:t>▼</a:t>
            </a:r>
          </a:p>
        </p:txBody>
      </p:sp>
      <p:sp>
        <p:nvSpPr>
          <p:cNvPr id="22" name="Rectangle 21"/>
          <p:cNvSpPr/>
          <p:nvPr/>
        </p:nvSpPr>
        <p:spPr>
          <a:xfrm>
            <a:off x="274320" y="4398264"/>
            <a:ext cx="11612880" cy="722376"/>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471416"/>
            <a:ext cx="3200400" cy="502920"/>
          </a:xfrm>
          <a:prstGeom prst="rect">
            <a:avLst/>
          </a:prstGeom>
          <a:noFill/>
        </p:spPr>
        <p:txBody>
          <a:bodyPr wrap="square">
            <a:spAutoFit/>
          </a:bodyPr>
          <a:lstStyle/>
          <a:p>
            <a:pPr algn="l"/>
            <a:r>
              <a:rPr sz="1200" b="1" i="0">
                <a:solidFill>
                  <a:srgbClr val="FFFFFF"/>
                </a:solidFill>
              </a:rPr>
              <a:t>5. Integratie / API-laag</a:t>
            </a:r>
          </a:p>
        </p:txBody>
      </p:sp>
      <p:sp>
        <p:nvSpPr>
          <p:cNvPr id="24" name="TextBox 23"/>
          <p:cNvSpPr txBox="1"/>
          <p:nvPr/>
        </p:nvSpPr>
        <p:spPr>
          <a:xfrm>
            <a:off x="3840480" y="4507992"/>
            <a:ext cx="7863840" cy="502920"/>
          </a:xfrm>
          <a:prstGeom prst="rect">
            <a:avLst/>
          </a:prstGeom>
          <a:noFill/>
        </p:spPr>
        <p:txBody>
          <a:bodyPr wrap="square">
            <a:spAutoFit/>
          </a:bodyPr>
          <a:lstStyle/>
          <a:p>
            <a:pPr algn="l"/>
            <a:r>
              <a:rPr sz="1100" b="0" i="0">
                <a:solidFill>
                  <a:srgbClr val="FFFFFF"/>
                </a:solidFill>
              </a:rPr>
              <a:t>API Gateway, iPaaS, CMDB, Identity (Entra ID / SURFconext)</a:t>
            </a:r>
          </a:p>
        </p:txBody>
      </p:sp>
      <p:sp>
        <p:nvSpPr>
          <p:cNvPr id="25" name="TextBox 24"/>
          <p:cNvSpPr txBox="1"/>
          <p:nvPr/>
        </p:nvSpPr>
        <p:spPr>
          <a:xfrm>
            <a:off x="5852160" y="4965192"/>
            <a:ext cx="457200" cy="228600"/>
          </a:xfrm>
          <a:prstGeom prst="rect">
            <a:avLst/>
          </a:prstGeom>
          <a:noFill/>
        </p:spPr>
        <p:txBody>
          <a:bodyPr wrap="square">
            <a:spAutoFit/>
          </a:bodyPr>
          <a:lstStyle/>
          <a:p>
            <a:pPr algn="ctr"/>
            <a:r>
              <a:rPr sz="900" b="0" i="0">
                <a:solidFill>
                  <a:srgbClr val="FFFFFF"/>
                </a:solidFill>
              </a:rPr>
              <a:t>▼</a:t>
            </a:r>
          </a:p>
        </p:txBody>
      </p:sp>
      <p:sp>
        <p:nvSpPr>
          <p:cNvPr id="26" name="Rectangle 25"/>
          <p:cNvSpPr/>
          <p:nvPr/>
        </p:nvSpPr>
        <p:spPr>
          <a:xfrm>
            <a:off x="274320" y="5166360"/>
            <a:ext cx="11612880" cy="722376"/>
          </a:xfrm>
          <a:prstGeom prst="rect">
            <a:avLst/>
          </a:prstGeom>
          <a:solidFill>
            <a:srgbClr val="C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239512"/>
            <a:ext cx="3200400" cy="502920"/>
          </a:xfrm>
          <a:prstGeom prst="rect">
            <a:avLst/>
          </a:prstGeom>
          <a:noFill/>
        </p:spPr>
        <p:txBody>
          <a:bodyPr wrap="square">
            <a:spAutoFit/>
          </a:bodyPr>
          <a:lstStyle/>
          <a:p>
            <a:pPr algn="l"/>
            <a:r>
              <a:rPr sz="1200" b="1" i="0">
                <a:solidFill>
                  <a:srgbClr val="FFFFFF"/>
                </a:solidFill>
              </a:rPr>
              <a:t>6. Backoffice Systemen</a:t>
            </a:r>
          </a:p>
        </p:txBody>
      </p:sp>
      <p:sp>
        <p:nvSpPr>
          <p:cNvPr id="28" name="TextBox 27"/>
          <p:cNvSpPr txBox="1"/>
          <p:nvPr/>
        </p:nvSpPr>
        <p:spPr>
          <a:xfrm>
            <a:off x="3840480" y="5276088"/>
            <a:ext cx="7863840" cy="502920"/>
          </a:xfrm>
          <a:prstGeom prst="rect">
            <a:avLst/>
          </a:prstGeom>
          <a:noFill/>
        </p:spPr>
        <p:txBody>
          <a:bodyPr wrap="square">
            <a:spAutoFit/>
          </a:bodyPr>
          <a:lstStyle/>
          <a:p>
            <a:pPr algn="l"/>
            <a:r>
              <a:rPr sz="1100" b="0" i="0">
                <a:solidFill>
                  <a:srgbClr val="FFFFFF"/>
                </a:solidFill>
              </a:rPr>
              <a:t>ERP (SAP/AFAS), M365/Azure, SIS, HRM, Gebouwbeheer</a:t>
            </a:r>
          </a:p>
        </p:txBody>
      </p:sp>
      <p:sp>
        <p:nvSpPr>
          <p:cNvPr id="29" name="TextBox 28"/>
          <p:cNvSpPr txBox="1"/>
          <p:nvPr/>
        </p:nvSpPr>
        <p:spPr>
          <a:xfrm>
            <a:off x="5852160" y="5733288"/>
            <a:ext cx="457200" cy="228600"/>
          </a:xfrm>
          <a:prstGeom prst="rect">
            <a:avLst/>
          </a:prstGeom>
          <a:noFill/>
        </p:spPr>
        <p:txBody>
          <a:bodyPr wrap="square">
            <a:spAutoFit/>
          </a:bodyPr>
          <a:lstStyle/>
          <a:p>
            <a:pPr algn="ctr"/>
            <a:r>
              <a:rPr sz="900" b="0" i="0">
                <a:solidFill>
                  <a:srgbClr val="FFFFFF"/>
                </a:solidFill>
              </a:rPr>
              <a:t>▼</a:t>
            </a:r>
          </a:p>
        </p:txBody>
      </p:sp>
      <p:sp>
        <p:nvSpPr>
          <p:cNvPr id="30" name="Rectangle 29"/>
          <p:cNvSpPr/>
          <p:nvPr/>
        </p:nvSpPr>
        <p:spPr>
          <a:xfrm>
            <a:off x="274320" y="5934456"/>
            <a:ext cx="11612880" cy="722376"/>
          </a:xfrm>
          <a:prstGeom prst="rect">
            <a:avLst/>
          </a:prstGeom>
          <a:solidFill>
            <a:srgbClr val="305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007608"/>
            <a:ext cx="3200400" cy="502920"/>
          </a:xfrm>
          <a:prstGeom prst="rect">
            <a:avLst/>
          </a:prstGeom>
          <a:noFill/>
        </p:spPr>
        <p:txBody>
          <a:bodyPr wrap="square">
            <a:spAutoFit/>
          </a:bodyPr>
          <a:lstStyle/>
          <a:p>
            <a:pPr algn="l"/>
            <a:r>
              <a:rPr sz="1200" b="1" i="0">
                <a:solidFill>
                  <a:srgbClr val="FFFFFF"/>
                </a:solidFill>
              </a:rPr>
              <a:t>7. Monitoring &amp; BI</a:t>
            </a:r>
          </a:p>
        </p:txBody>
      </p:sp>
      <p:sp>
        <p:nvSpPr>
          <p:cNvPr id="32" name="TextBox 31"/>
          <p:cNvSpPr txBox="1"/>
          <p:nvPr/>
        </p:nvSpPr>
        <p:spPr>
          <a:xfrm>
            <a:off x="3840480" y="6044184"/>
            <a:ext cx="7863840" cy="502920"/>
          </a:xfrm>
          <a:prstGeom prst="rect">
            <a:avLst/>
          </a:prstGeom>
          <a:noFill/>
        </p:spPr>
        <p:txBody>
          <a:bodyPr wrap="square">
            <a:spAutoFit/>
          </a:bodyPr>
          <a:lstStyle/>
          <a:p>
            <a:pPr algn="l"/>
            <a:r>
              <a:rPr sz="1100" b="0" i="0">
                <a:solidFill>
                  <a:srgbClr val="FFFFFF"/>
                </a:solidFill>
              </a:rPr>
              <a:t>SLA-dashboards, kosten per service, continu verbeteren</a:t>
            </a:r>
          </a:p>
        </p:txBody>
      </p:sp>
      <p:sp>
        <p:nvSpPr>
          <p:cNvPr id="33" name="TextBox 32"/>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Service Catalogus &amp; Request Model</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Twee niveaus: wat de klant ziet vs. hoe het wordt uitgevoerd</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25880"/>
            <a:ext cx="5349240" cy="5257800"/>
          </a:xfrm>
          <a:prstGeom prst="rect">
            <a:avLst/>
          </a:prstGeom>
          <a:solidFill>
            <a:srgbClr val="FFFFFF"/>
          </a:solidFill>
          <a:ln w="254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349240" cy="5029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71600"/>
            <a:ext cx="5074920" cy="393192"/>
          </a:xfrm>
          <a:prstGeom prst="rect">
            <a:avLst/>
          </a:prstGeom>
          <a:noFill/>
        </p:spPr>
        <p:txBody>
          <a:bodyPr wrap="square">
            <a:spAutoFit/>
          </a:bodyPr>
          <a:lstStyle/>
          <a:p>
            <a:pPr algn="l"/>
            <a:r>
              <a:rPr sz="1200" b="1" i="0">
                <a:solidFill>
                  <a:srgbClr val="FFFFFF"/>
                </a:solidFill>
              </a:rPr>
              <a:t>📋  Service Catalogus (klantlaag)</a:t>
            </a:r>
          </a:p>
        </p:txBody>
      </p:sp>
      <p:sp>
        <p:nvSpPr>
          <p:cNvPr id="9" name="TextBox 8"/>
          <p:cNvSpPr txBox="1"/>
          <p:nvPr/>
        </p:nvSpPr>
        <p:spPr>
          <a:xfrm>
            <a:off x="411480" y="1938528"/>
            <a:ext cx="5074920" cy="457200"/>
          </a:xfrm>
          <a:prstGeom prst="rect">
            <a:avLst/>
          </a:prstGeom>
          <a:noFill/>
        </p:spPr>
        <p:txBody>
          <a:bodyPr wrap="square">
            <a:spAutoFit/>
          </a:bodyPr>
          <a:lstStyle/>
          <a:p>
            <a:pPr algn="l"/>
            <a:r>
              <a:rPr sz="1100" b="0" i="0">
                <a:solidFill>
                  <a:srgbClr val="1A1A2E"/>
                </a:solidFill>
              </a:rPr>
              <a:t>• Naam van de service</a:t>
            </a:r>
          </a:p>
        </p:txBody>
      </p:sp>
      <p:sp>
        <p:nvSpPr>
          <p:cNvPr id="10" name="TextBox 9"/>
          <p:cNvSpPr txBox="1"/>
          <p:nvPr/>
        </p:nvSpPr>
        <p:spPr>
          <a:xfrm>
            <a:off x="411480" y="2450592"/>
            <a:ext cx="5074920" cy="457200"/>
          </a:xfrm>
          <a:prstGeom prst="rect">
            <a:avLst/>
          </a:prstGeom>
          <a:noFill/>
        </p:spPr>
        <p:txBody>
          <a:bodyPr wrap="square">
            <a:spAutoFit/>
          </a:bodyPr>
          <a:lstStyle/>
          <a:p>
            <a:pPr algn="l"/>
            <a:r>
              <a:rPr sz="1100" b="0" i="0">
                <a:solidFill>
                  <a:srgbClr val="1A1A2E"/>
                </a:solidFill>
              </a:rPr>
              <a:t>• Korte beschrijving (klantgericht)</a:t>
            </a:r>
          </a:p>
        </p:txBody>
      </p:sp>
      <p:sp>
        <p:nvSpPr>
          <p:cNvPr id="11" name="TextBox 10"/>
          <p:cNvSpPr txBox="1"/>
          <p:nvPr/>
        </p:nvSpPr>
        <p:spPr>
          <a:xfrm>
            <a:off x="411480" y="2962656"/>
            <a:ext cx="5074920" cy="457200"/>
          </a:xfrm>
          <a:prstGeom prst="rect">
            <a:avLst/>
          </a:prstGeom>
          <a:noFill/>
        </p:spPr>
        <p:txBody>
          <a:bodyPr wrap="square">
            <a:spAutoFit/>
          </a:bodyPr>
          <a:lstStyle/>
          <a:p>
            <a:pPr algn="l"/>
            <a:r>
              <a:rPr sz="1100" b="0" i="0">
                <a:solidFill>
                  <a:srgbClr val="1A1A2E"/>
                </a:solidFill>
              </a:rPr>
              <a:t>• Invulformulier (welke info is nodig?)</a:t>
            </a:r>
          </a:p>
        </p:txBody>
      </p:sp>
      <p:sp>
        <p:nvSpPr>
          <p:cNvPr id="12" name="TextBox 11"/>
          <p:cNvSpPr txBox="1"/>
          <p:nvPr/>
        </p:nvSpPr>
        <p:spPr>
          <a:xfrm>
            <a:off x="411480" y="3474720"/>
            <a:ext cx="5074920" cy="457200"/>
          </a:xfrm>
          <a:prstGeom prst="rect">
            <a:avLst/>
          </a:prstGeom>
          <a:noFill/>
        </p:spPr>
        <p:txBody>
          <a:bodyPr wrap="square">
            <a:spAutoFit/>
          </a:bodyPr>
          <a:lstStyle/>
          <a:p>
            <a:pPr algn="l"/>
            <a:r>
              <a:rPr sz="1100" b="0" i="0">
                <a:solidFill>
                  <a:srgbClr val="1A1A2E"/>
                </a:solidFill>
              </a:rPr>
              <a:t>• Verwachte doorlooptijd (SLA)</a:t>
            </a:r>
          </a:p>
        </p:txBody>
      </p:sp>
      <p:sp>
        <p:nvSpPr>
          <p:cNvPr id="13" name="TextBox 12"/>
          <p:cNvSpPr txBox="1"/>
          <p:nvPr/>
        </p:nvSpPr>
        <p:spPr>
          <a:xfrm>
            <a:off x="411480" y="3986784"/>
            <a:ext cx="5074920" cy="457200"/>
          </a:xfrm>
          <a:prstGeom prst="rect">
            <a:avLst/>
          </a:prstGeom>
          <a:noFill/>
        </p:spPr>
        <p:txBody>
          <a:bodyPr wrap="square">
            <a:spAutoFit/>
          </a:bodyPr>
          <a:lstStyle/>
          <a:p>
            <a:pPr algn="l"/>
            <a:r>
              <a:rPr sz="1100" b="0" i="0">
                <a:solidFill>
                  <a:srgbClr val="1A1A2E"/>
                </a:solidFill>
              </a:rPr>
              <a:t>• Kosten / tariefkaart (optioneel)</a:t>
            </a:r>
          </a:p>
        </p:txBody>
      </p:sp>
      <p:sp>
        <p:nvSpPr>
          <p:cNvPr id="14" name="TextBox 13"/>
          <p:cNvSpPr txBox="1"/>
          <p:nvPr/>
        </p:nvSpPr>
        <p:spPr>
          <a:xfrm>
            <a:off x="411480" y="4498848"/>
            <a:ext cx="5074920" cy="457200"/>
          </a:xfrm>
          <a:prstGeom prst="rect">
            <a:avLst/>
          </a:prstGeom>
          <a:noFill/>
        </p:spPr>
        <p:txBody>
          <a:bodyPr wrap="square">
            <a:spAutoFit/>
          </a:bodyPr>
          <a:lstStyle/>
          <a:p>
            <a:pPr algn="l"/>
            <a:r>
              <a:rPr sz="1100" b="0" i="0">
                <a:solidFill>
                  <a:srgbClr val="1A1A2E"/>
                </a:solidFill>
              </a:rPr>
              <a:t>• Wie mag aanvragen?</a:t>
            </a:r>
          </a:p>
        </p:txBody>
      </p:sp>
      <p:sp>
        <p:nvSpPr>
          <p:cNvPr id="15" name="TextBox 14"/>
          <p:cNvSpPr txBox="1"/>
          <p:nvPr/>
        </p:nvSpPr>
        <p:spPr>
          <a:xfrm>
            <a:off x="411480" y="5010912"/>
            <a:ext cx="5074920" cy="457200"/>
          </a:xfrm>
          <a:prstGeom prst="rect">
            <a:avLst/>
          </a:prstGeom>
          <a:noFill/>
        </p:spPr>
        <p:txBody>
          <a:bodyPr wrap="square">
            <a:spAutoFit/>
          </a:bodyPr>
          <a:lstStyle/>
          <a:p>
            <a:pPr algn="l"/>
            <a:r>
              <a:rPr sz="1100" b="0" i="0">
                <a:solidFill>
                  <a:srgbClr val="1A1A2E"/>
                </a:solidFill>
              </a:rPr>
              <a:t>• Goedkeuringsdrempel</a:t>
            </a:r>
          </a:p>
        </p:txBody>
      </p:sp>
      <p:sp>
        <p:nvSpPr>
          <p:cNvPr id="16" name="TextBox 15"/>
          <p:cNvSpPr txBox="1"/>
          <p:nvPr/>
        </p:nvSpPr>
        <p:spPr>
          <a:xfrm>
            <a:off x="411480" y="5522976"/>
            <a:ext cx="5074920" cy="457200"/>
          </a:xfrm>
          <a:prstGeom prst="rect">
            <a:avLst/>
          </a:prstGeom>
          <a:noFill/>
        </p:spPr>
        <p:txBody>
          <a:bodyPr wrap="square">
            <a:spAutoFit/>
          </a:bodyPr>
          <a:lstStyle/>
          <a:p>
            <a:pPr algn="l"/>
            <a:r>
              <a:rPr sz="1100" b="0" i="0">
                <a:solidFill>
                  <a:srgbClr val="1A1A2E"/>
                </a:solidFill>
              </a:rPr>
              <a:t>• Gerelateerde services</a:t>
            </a:r>
          </a:p>
        </p:txBody>
      </p:sp>
      <p:sp>
        <p:nvSpPr>
          <p:cNvPr id="17" name="Rectangle 16"/>
          <p:cNvSpPr/>
          <p:nvPr/>
        </p:nvSpPr>
        <p:spPr>
          <a:xfrm>
            <a:off x="6172200" y="1325880"/>
            <a:ext cx="5715000" cy="5257800"/>
          </a:xfrm>
          <a:prstGeom prst="rect">
            <a:avLst/>
          </a:prstGeom>
          <a:solidFill>
            <a:srgbClr val="FFFFFF"/>
          </a:solidFill>
          <a:ln w="254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325880"/>
            <a:ext cx="5715000" cy="50292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371600"/>
            <a:ext cx="5440680" cy="393192"/>
          </a:xfrm>
          <a:prstGeom prst="rect">
            <a:avLst/>
          </a:prstGeom>
          <a:noFill/>
        </p:spPr>
        <p:txBody>
          <a:bodyPr wrap="square">
            <a:spAutoFit/>
          </a:bodyPr>
          <a:lstStyle/>
          <a:p>
            <a:pPr algn="l"/>
            <a:r>
              <a:rPr sz="1200" b="1" i="0">
                <a:solidFill>
                  <a:srgbClr val="FFFFFF"/>
                </a:solidFill>
              </a:rPr>
              <a:t>⚙️  Request Model (uitvoeringslaag)</a:t>
            </a:r>
          </a:p>
        </p:txBody>
      </p:sp>
      <p:sp>
        <p:nvSpPr>
          <p:cNvPr id="20" name="Rectangle 19"/>
          <p:cNvSpPr/>
          <p:nvPr/>
        </p:nvSpPr>
        <p:spPr>
          <a:xfrm>
            <a:off x="6263640" y="1975104"/>
            <a:ext cx="1371600" cy="38404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2029968"/>
            <a:ext cx="1325880" cy="292608"/>
          </a:xfrm>
          <a:prstGeom prst="rect">
            <a:avLst/>
          </a:prstGeom>
          <a:noFill/>
        </p:spPr>
        <p:txBody>
          <a:bodyPr wrap="square">
            <a:spAutoFit/>
          </a:bodyPr>
          <a:lstStyle/>
          <a:p>
            <a:pPr algn="l"/>
            <a:r>
              <a:rPr sz="900" b="1" i="0">
                <a:solidFill>
                  <a:srgbClr val="FFFFFF"/>
                </a:solidFill>
              </a:rPr>
              <a:t>IT-taak</a:t>
            </a:r>
          </a:p>
        </p:txBody>
      </p:sp>
      <p:sp>
        <p:nvSpPr>
          <p:cNvPr id="22" name="TextBox 21"/>
          <p:cNvSpPr txBox="1"/>
          <p:nvPr/>
        </p:nvSpPr>
        <p:spPr>
          <a:xfrm>
            <a:off x="7726679" y="2029968"/>
            <a:ext cx="3931920" cy="347472"/>
          </a:xfrm>
          <a:prstGeom prst="rect">
            <a:avLst/>
          </a:prstGeom>
          <a:noFill/>
        </p:spPr>
        <p:txBody>
          <a:bodyPr wrap="square">
            <a:spAutoFit/>
          </a:bodyPr>
          <a:lstStyle/>
          <a:p>
            <a:pPr algn="l"/>
            <a:r>
              <a:rPr sz="1000" b="0" i="0">
                <a:solidFill>
                  <a:srgbClr val="1A1A2E"/>
                </a:solidFill>
              </a:rPr>
              <a:t>Account aanmaken, licentie toewijzen, device</a:t>
            </a:r>
          </a:p>
        </p:txBody>
      </p:sp>
      <p:sp>
        <p:nvSpPr>
          <p:cNvPr id="23" name="Rectangle 22"/>
          <p:cNvSpPr/>
          <p:nvPr/>
        </p:nvSpPr>
        <p:spPr>
          <a:xfrm>
            <a:off x="6263640" y="2487168"/>
            <a:ext cx="1371600" cy="38404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2" y="2542032"/>
            <a:ext cx="1325880" cy="292608"/>
          </a:xfrm>
          <a:prstGeom prst="rect">
            <a:avLst/>
          </a:prstGeom>
          <a:noFill/>
        </p:spPr>
        <p:txBody>
          <a:bodyPr wrap="square">
            <a:spAutoFit/>
          </a:bodyPr>
          <a:lstStyle/>
          <a:p>
            <a:pPr algn="l"/>
            <a:r>
              <a:rPr sz="900" b="1" i="0">
                <a:solidFill>
                  <a:srgbClr val="FFFFFF"/>
                </a:solidFill>
              </a:rPr>
              <a:t>HR-taak</a:t>
            </a:r>
          </a:p>
        </p:txBody>
      </p:sp>
      <p:sp>
        <p:nvSpPr>
          <p:cNvPr id="25" name="TextBox 24"/>
          <p:cNvSpPr txBox="1"/>
          <p:nvPr/>
        </p:nvSpPr>
        <p:spPr>
          <a:xfrm>
            <a:off x="7726679" y="2542032"/>
            <a:ext cx="3931920" cy="347472"/>
          </a:xfrm>
          <a:prstGeom prst="rect">
            <a:avLst/>
          </a:prstGeom>
          <a:noFill/>
        </p:spPr>
        <p:txBody>
          <a:bodyPr wrap="square">
            <a:spAutoFit/>
          </a:bodyPr>
          <a:lstStyle/>
          <a:p>
            <a:pPr algn="l"/>
            <a:r>
              <a:rPr sz="1000" b="0" i="0">
                <a:solidFill>
                  <a:srgbClr val="1A1A2E"/>
                </a:solidFill>
              </a:rPr>
              <a:t>Registratie in HRM, contract, NDA</a:t>
            </a:r>
          </a:p>
        </p:txBody>
      </p:sp>
      <p:sp>
        <p:nvSpPr>
          <p:cNvPr id="26" name="Rectangle 25"/>
          <p:cNvSpPr/>
          <p:nvPr/>
        </p:nvSpPr>
        <p:spPr>
          <a:xfrm>
            <a:off x="6263640" y="2999232"/>
            <a:ext cx="1371600" cy="38404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1072" y="3054096"/>
            <a:ext cx="1325880" cy="292608"/>
          </a:xfrm>
          <a:prstGeom prst="rect">
            <a:avLst/>
          </a:prstGeom>
          <a:noFill/>
        </p:spPr>
        <p:txBody>
          <a:bodyPr wrap="square">
            <a:spAutoFit/>
          </a:bodyPr>
          <a:lstStyle/>
          <a:p>
            <a:pPr algn="l"/>
            <a:r>
              <a:rPr sz="900" b="1" i="0">
                <a:solidFill>
                  <a:srgbClr val="FFFFFF"/>
                </a:solidFill>
              </a:rPr>
              <a:t>Facilitair-taak</a:t>
            </a:r>
          </a:p>
        </p:txBody>
      </p:sp>
      <p:sp>
        <p:nvSpPr>
          <p:cNvPr id="28" name="TextBox 27"/>
          <p:cNvSpPr txBox="1"/>
          <p:nvPr/>
        </p:nvSpPr>
        <p:spPr>
          <a:xfrm>
            <a:off x="7726679" y="3054096"/>
            <a:ext cx="3931920" cy="347472"/>
          </a:xfrm>
          <a:prstGeom prst="rect">
            <a:avLst/>
          </a:prstGeom>
          <a:noFill/>
        </p:spPr>
        <p:txBody>
          <a:bodyPr wrap="square">
            <a:spAutoFit/>
          </a:bodyPr>
          <a:lstStyle/>
          <a:p>
            <a:pPr algn="l"/>
            <a:r>
              <a:rPr sz="1000" b="0" i="0">
                <a:solidFill>
                  <a:srgbClr val="1A1A2E"/>
                </a:solidFill>
              </a:rPr>
              <a:t>Pas aanmaken, werkplek reserveren</a:t>
            </a:r>
          </a:p>
        </p:txBody>
      </p:sp>
      <p:sp>
        <p:nvSpPr>
          <p:cNvPr id="29" name="Rectangle 28"/>
          <p:cNvSpPr/>
          <p:nvPr/>
        </p:nvSpPr>
        <p:spPr>
          <a:xfrm>
            <a:off x="6263640" y="3511296"/>
            <a:ext cx="1371600" cy="38404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91072" y="3566160"/>
            <a:ext cx="1325880" cy="292608"/>
          </a:xfrm>
          <a:prstGeom prst="rect">
            <a:avLst/>
          </a:prstGeom>
          <a:noFill/>
        </p:spPr>
        <p:txBody>
          <a:bodyPr wrap="square">
            <a:spAutoFit/>
          </a:bodyPr>
          <a:lstStyle/>
          <a:p>
            <a:pPr algn="l"/>
            <a:r>
              <a:rPr sz="900" b="1" i="0">
                <a:solidFill>
                  <a:srgbClr val="FFFFFF"/>
                </a:solidFill>
              </a:rPr>
              <a:t>Finance-taak</a:t>
            </a:r>
          </a:p>
        </p:txBody>
      </p:sp>
      <p:sp>
        <p:nvSpPr>
          <p:cNvPr id="31" name="TextBox 30"/>
          <p:cNvSpPr txBox="1"/>
          <p:nvPr/>
        </p:nvSpPr>
        <p:spPr>
          <a:xfrm>
            <a:off x="7726679" y="3566160"/>
            <a:ext cx="3931920" cy="347472"/>
          </a:xfrm>
          <a:prstGeom prst="rect">
            <a:avLst/>
          </a:prstGeom>
          <a:noFill/>
        </p:spPr>
        <p:txBody>
          <a:bodyPr wrap="square">
            <a:spAutoFit/>
          </a:bodyPr>
          <a:lstStyle/>
          <a:p>
            <a:pPr algn="l"/>
            <a:r>
              <a:rPr sz="1000" b="0" i="0">
                <a:solidFill>
                  <a:srgbClr val="1A1A2E"/>
                </a:solidFill>
              </a:rPr>
              <a:t>Kostenplaats valideren, budgetcheck</a:t>
            </a:r>
          </a:p>
        </p:txBody>
      </p:sp>
      <p:sp>
        <p:nvSpPr>
          <p:cNvPr id="32" name="Rectangle 31"/>
          <p:cNvSpPr/>
          <p:nvPr/>
        </p:nvSpPr>
        <p:spPr>
          <a:xfrm>
            <a:off x="6263640" y="4023360"/>
            <a:ext cx="1371600" cy="38404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4078224"/>
            <a:ext cx="1325880" cy="292608"/>
          </a:xfrm>
          <a:prstGeom prst="rect">
            <a:avLst/>
          </a:prstGeom>
          <a:noFill/>
        </p:spPr>
        <p:txBody>
          <a:bodyPr wrap="square">
            <a:spAutoFit/>
          </a:bodyPr>
          <a:lstStyle/>
          <a:p>
            <a:pPr algn="l"/>
            <a:r>
              <a:rPr sz="900" b="1" i="0">
                <a:solidFill>
                  <a:srgbClr val="FFFFFF"/>
                </a:solidFill>
              </a:rPr>
              <a:t>Automatisering</a:t>
            </a:r>
          </a:p>
        </p:txBody>
      </p:sp>
      <p:sp>
        <p:nvSpPr>
          <p:cNvPr id="34" name="TextBox 33"/>
          <p:cNvSpPr txBox="1"/>
          <p:nvPr/>
        </p:nvSpPr>
        <p:spPr>
          <a:xfrm>
            <a:off x="7726679" y="4078224"/>
            <a:ext cx="3931920" cy="347472"/>
          </a:xfrm>
          <a:prstGeom prst="rect">
            <a:avLst/>
          </a:prstGeom>
          <a:noFill/>
        </p:spPr>
        <p:txBody>
          <a:bodyPr wrap="square">
            <a:spAutoFit/>
          </a:bodyPr>
          <a:lstStyle/>
          <a:p>
            <a:pPr algn="l"/>
            <a:r>
              <a:rPr sz="1000" b="0" i="0">
                <a:solidFill>
                  <a:srgbClr val="1A1A2E"/>
                </a:solidFill>
              </a:rPr>
              <a:t>Welkomstmail, notificaties, koppelingen</a:t>
            </a:r>
          </a:p>
        </p:txBody>
      </p:sp>
      <p:sp>
        <p:nvSpPr>
          <p:cNvPr id="35" name="Rectangle 34"/>
          <p:cNvSpPr/>
          <p:nvPr/>
        </p:nvSpPr>
        <p:spPr>
          <a:xfrm>
            <a:off x="6263640" y="4535424"/>
            <a:ext cx="1371600" cy="38404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4590288"/>
            <a:ext cx="1325880" cy="292608"/>
          </a:xfrm>
          <a:prstGeom prst="rect">
            <a:avLst/>
          </a:prstGeom>
          <a:noFill/>
        </p:spPr>
        <p:txBody>
          <a:bodyPr wrap="square">
            <a:spAutoFit/>
          </a:bodyPr>
          <a:lstStyle/>
          <a:p>
            <a:pPr algn="l"/>
            <a:r>
              <a:rPr sz="900" b="1" i="0">
                <a:solidFill>
                  <a:srgbClr val="FFFFFF"/>
                </a:solidFill>
              </a:rPr>
              <a:t>Verloopcyclus</a:t>
            </a:r>
          </a:p>
        </p:txBody>
      </p:sp>
      <p:sp>
        <p:nvSpPr>
          <p:cNvPr id="37" name="TextBox 36"/>
          <p:cNvSpPr txBox="1"/>
          <p:nvPr/>
        </p:nvSpPr>
        <p:spPr>
          <a:xfrm>
            <a:off x="7726679" y="4590288"/>
            <a:ext cx="3931920" cy="347472"/>
          </a:xfrm>
          <a:prstGeom prst="rect">
            <a:avLst/>
          </a:prstGeom>
          <a:noFill/>
        </p:spPr>
        <p:txBody>
          <a:bodyPr wrap="square">
            <a:spAutoFit/>
          </a:bodyPr>
          <a:lstStyle/>
          <a:p>
            <a:pPr algn="l"/>
            <a:r>
              <a:rPr sz="1000" b="0" i="0">
                <a:solidFill>
                  <a:srgbClr val="1A1A2E"/>
                </a:solidFill>
              </a:rPr>
              <a:t>Herinnering, verlenging, deactivatie</a:t>
            </a:r>
          </a:p>
        </p:txBody>
      </p:sp>
      <p:sp>
        <p:nvSpPr>
          <p:cNvPr id="38" name="Rectangle 37"/>
          <p:cNvSpPr/>
          <p:nvPr/>
        </p:nvSpPr>
        <p:spPr>
          <a:xfrm>
            <a:off x="274320" y="6291072"/>
            <a:ext cx="11612880" cy="25603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6318504"/>
            <a:ext cx="11338560" cy="201168"/>
          </a:xfrm>
          <a:prstGeom prst="rect">
            <a:avLst/>
          </a:prstGeom>
          <a:noFill/>
        </p:spPr>
        <p:txBody>
          <a:bodyPr wrap="square">
            <a:spAutoFit/>
          </a:bodyPr>
          <a:lstStyle/>
          <a:p>
            <a:pPr algn="l"/>
            <a:r>
              <a:rPr sz="1000" b="1" i="0">
                <a:solidFill>
                  <a:srgbClr val="FFFFFF"/>
                </a:solidFill>
              </a:rPr>
              <a:t>💡  De Service Owner (bijv. HR-manager) is eigenaar van het model — niet de IT-afdeling.</a:t>
            </a:r>
          </a:p>
        </p:txBody>
      </p:sp>
      <p:sp>
        <p:nvSpPr>
          <p:cNvPr id="40" name="TextBox 39"/>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ESM Domeinmodel — Universiteitscontext</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Vier domeinen, één platform, één portaal</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12080" y="1371600"/>
            <a:ext cx="1828800" cy="411480"/>
          </a:xfrm>
          <a:prstGeom prst="rect">
            <a:avLst/>
          </a:prstGeom>
          <a:noFill/>
        </p:spPr>
        <p:txBody>
          <a:bodyPr wrap="square">
            <a:spAutoFit/>
          </a:bodyPr>
          <a:lstStyle/>
          <a:p>
            <a:pPr algn="ctr"/>
            <a:r>
              <a:rPr sz="1200" b="1" i="0">
                <a:solidFill>
                  <a:srgbClr val="0050A0"/>
                </a:solidFill>
              </a:rPr>
              <a:t>🏛️  ESM Platform</a:t>
            </a:r>
          </a:p>
        </p:txBody>
      </p:sp>
      <p:sp>
        <p:nvSpPr>
          <p:cNvPr id="7" name="Rectangle 6"/>
          <p:cNvSpPr/>
          <p:nvPr/>
        </p:nvSpPr>
        <p:spPr>
          <a:xfrm>
            <a:off x="5029200" y="1353312"/>
            <a:ext cx="2148840" cy="411480"/>
          </a:xfrm>
          <a:prstGeom prst="rect">
            <a:avLst/>
          </a:prstGeom>
          <a:solidFill>
            <a:srgbClr val="E8F2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737360"/>
            <a:ext cx="5212080" cy="2651760"/>
          </a:xfrm>
          <a:prstGeom prst="rect">
            <a:avLst/>
          </a:prstGeom>
          <a:solidFill>
            <a:srgbClr val="FFFFFF"/>
          </a:solidFill>
          <a:ln w="254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737360"/>
            <a:ext cx="5212080" cy="47548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810512"/>
            <a:ext cx="4937760" cy="347472"/>
          </a:xfrm>
          <a:prstGeom prst="rect">
            <a:avLst/>
          </a:prstGeom>
          <a:noFill/>
        </p:spPr>
        <p:txBody>
          <a:bodyPr wrap="square">
            <a:spAutoFit/>
          </a:bodyPr>
          <a:lstStyle/>
          <a:p>
            <a:pPr algn="l"/>
            <a:r>
              <a:rPr sz="1300" b="1" i="0">
                <a:solidFill>
                  <a:srgbClr val="FFFFFF"/>
                </a:solidFill>
              </a:rPr>
              <a:t>🖥️ IT</a:t>
            </a:r>
          </a:p>
        </p:txBody>
      </p:sp>
      <p:sp>
        <p:nvSpPr>
          <p:cNvPr id="11" name="TextBox 10"/>
          <p:cNvSpPr txBox="1"/>
          <p:nvPr/>
        </p:nvSpPr>
        <p:spPr>
          <a:xfrm>
            <a:off x="457200" y="2304288"/>
            <a:ext cx="4846320" cy="365760"/>
          </a:xfrm>
          <a:prstGeom prst="rect">
            <a:avLst/>
          </a:prstGeom>
          <a:noFill/>
        </p:spPr>
        <p:txBody>
          <a:bodyPr wrap="square">
            <a:spAutoFit/>
          </a:bodyPr>
          <a:lstStyle/>
          <a:p>
            <a:pPr algn="l"/>
            <a:r>
              <a:rPr sz="1000" b="0" i="0">
                <a:solidFill>
                  <a:srgbClr val="1A1A2E"/>
                </a:solidFill>
              </a:rPr>
              <a:t>• Incident &amp; service requests</a:t>
            </a:r>
          </a:p>
        </p:txBody>
      </p:sp>
      <p:sp>
        <p:nvSpPr>
          <p:cNvPr id="12" name="TextBox 11"/>
          <p:cNvSpPr txBox="1"/>
          <p:nvPr/>
        </p:nvSpPr>
        <p:spPr>
          <a:xfrm>
            <a:off x="457200" y="2724912"/>
            <a:ext cx="4846320" cy="365760"/>
          </a:xfrm>
          <a:prstGeom prst="rect">
            <a:avLst/>
          </a:prstGeom>
          <a:noFill/>
        </p:spPr>
        <p:txBody>
          <a:bodyPr wrap="square">
            <a:spAutoFit/>
          </a:bodyPr>
          <a:lstStyle/>
          <a:p>
            <a:pPr algn="l"/>
            <a:r>
              <a:rPr sz="1000" b="0" i="0">
                <a:solidFill>
                  <a:srgbClr val="1A1A2E"/>
                </a:solidFill>
              </a:rPr>
              <a:t>• Wijzigingsbeheer (ITAM)</a:t>
            </a:r>
          </a:p>
        </p:txBody>
      </p:sp>
      <p:sp>
        <p:nvSpPr>
          <p:cNvPr id="13" name="TextBox 12"/>
          <p:cNvSpPr txBox="1"/>
          <p:nvPr/>
        </p:nvSpPr>
        <p:spPr>
          <a:xfrm>
            <a:off x="457200" y="3145536"/>
            <a:ext cx="4846320" cy="365760"/>
          </a:xfrm>
          <a:prstGeom prst="rect">
            <a:avLst/>
          </a:prstGeom>
          <a:noFill/>
        </p:spPr>
        <p:txBody>
          <a:bodyPr wrap="square">
            <a:spAutoFit/>
          </a:bodyPr>
          <a:lstStyle/>
          <a:p>
            <a:pPr algn="l"/>
            <a:r>
              <a:rPr sz="1000" b="0" i="0">
                <a:solidFill>
                  <a:srgbClr val="1A1A2E"/>
                </a:solidFill>
              </a:rPr>
              <a:t>• Account &amp; toegangsbeheer</a:t>
            </a:r>
          </a:p>
        </p:txBody>
      </p:sp>
      <p:sp>
        <p:nvSpPr>
          <p:cNvPr id="14" name="TextBox 13"/>
          <p:cNvSpPr txBox="1"/>
          <p:nvPr/>
        </p:nvSpPr>
        <p:spPr>
          <a:xfrm>
            <a:off x="457200" y="3566160"/>
            <a:ext cx="4846320" cy="365760"/>
          </a:xfrm>
          <a:prstGeom prst="rect">
            <a:avLst/>
          </a:prstGeom>
          <a:noFill/>
        </p:spPr>
        <p:txBody>
          <a:bodyPr wrap="square">
            <a:spAutoFit/>
          </a:bodyPr>
          <a:lstStyle/>
          <a:p>
            <a:pPr algn="l"/>
            <a:r>
              <a:rPr sz="1000" b="0" i="0">
                <a:solidFill>
                  <a:srgbClr val="1A1A2E"/>
                </a:solidFill>
              </a:rPr>
              <a:t>• Werkplekbeheer (laptop/AVD)</a:t>
            </a:r>
          </a:p>
        </p:txBody>
      </p:sp>
      <p:sp>
        <p:nvSpPr>
          <p:cNvPr id="15" name="TextBox 14"/>
          <p:cNvSpPr txBox="1"/>
          <p:nvPr/>
        </p:nvSpPr>
        <p:spPr>
          <a:xfrm>
            <a:off x="457200" y="3986784"/>
            <a:ext cx="4846320" cy="365760"/>
          </a:xfrm>
          <a:prstGeom prst="rect">
            <a:avLst/>
          </a:prstGeom>
          <a:noFill/>
        </p:spPr>
        <p:txBody>
          <a:bodyPr wrap="square">
            <a:spAutoFit/>
          </a:bodyPr>
          <a:lstStyle/>
          <a:p>
            <a:pPr algn="l"/>
            <a:r>
              <a:rPr sz="1000" b="0" i="0">
                <a:solidFill>
                  <a:srgbClr val="1A1A2E"/>
                </a:solidFill>
              </a:rPr>
              <a:t>• Netwerk &amp; infra-aanvragen</a:t>
            </a:r>
          </a:p>
        </p:txBody>
      </p:sp>
      <p:sp>
        <p:nvSpPr>
          <p:cNvPr id="16" name="Rectangle 15"/>
          <p:cNvSpPr/>
          <p:nvPr/>
        </p:nvSpPr>
        <p:spPr>
          <a:xfrm>
            <a:off x="274320" y="4023360"/>
            <a:ext cx="5212080" cy="2651760"/>
          </a:xfrm>
          <a:prstGeom prst="rect">
            <a:avLst/>
          </a:prstGeom>
          <a:solidFill>
            <a:srgbClr val="FFFFFF"/>
          </a:solidFill>
          <a:ln w="254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023360"/>
            <a:ext cx="5212080" cy="47548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4096512"/>
            <a:ext cx="4937760" cy="347472"/>
          </a:xfrm>
          <a:prstGeom prst="rect">
            <a:avLst/>
          </a:prstGeom>
          <a:noFill/>
        </p:spPr>
        <p:txBody>
          <a:bodyPr wrap="square">
            <a:spAutoFit/>
          </a:bodyPr>
          <a:lstStyle/>
          <a:p>
            <a:pPr algn="l"/>
            <a:r>
              <a:rPr sz="1300" b="1" i="0">
                <a:solidFill>
                  <a:srgbClr val="FFFFFF"/>
                </a:solidFill>
              </a:rPr>
              <a:t>👥 HR</a:t>
            </a:r>
          </a:p>
        </p:txBody>
      </p:sp>
      <p:sp>
        <p:nvSpPr>
          <p:cNvPr id="19" name="TextBox 18"/>
          <p:cNvSpPr txBox="1"/>
          <p:nvPr/>
        </p:nvSpPr>
        <p:spPr>
          <a:xfrm>
            <a:off x="457200" y="4590288"/>
            <a:ext cx="4846320" cy="365760"/>
          </a:xfrm>
          <a:prstGeom prst="rect">
            <a:avLst/>
          </a:prstGeom>
          <a:noFill/>
        </p:spPr>
        <p:txBody>
          <a:bodyPr wrap="square">
            <a:spAutoFit/>
          </a:bodyPr>
          <a:lstStyle/>
          <a:p>
            <a:pPr algn="l"/>
            <a:r>
              <a:rPr sz="1000" b="0" i="0">
                <a:solidFill>
                  <a:srgbClr val="1A1A2E"/>
                </a:solidFill>
              </a:rPr>
              <a:t>• Onboarding / offboarding</a:t>
            </a:r>
          </a:p>
        </p:txBody>
      </p:sp>
      <p:sp>
        <p:nvSpPr>
          <p:cNvPr id="20" name="TextBox 19"/>
          <p:cNvSpPr txBox="1"/>
          <p:nvPr/>
        </p:nvSpPr>
        <p:spPr>
          <a:xfrm>
            <a:off x="457200" y="5010912"/>
            <a:ext cx="4846320" cy="365760"/>
          </a:xfrm>
          <a:prstGeom prst="rect">
            <a:avLst/>
          </a:prstGeom>
          <a:noFill/>
        </p:spPr>
        <p:txBody>
          <a:bodyPr wrap="square">
            <a:spAutoFit/>
          </a:bodyPr>
          <a:lstStyle/>
          <a:p>
            <a:pPr algn="l"/>
            <a:r>
              <a:rPr sz="1000" b="0" i="0">
                <a:solidFill>
                  <a:srgbClr val="1A1A2E"/>
                </a:solidFill>
              </a:rPr>
              <a:t>• Externe medewerkers</a:t>
            </a:r>
          </a:p>
        </p:txBody>
      </p:sp>
      <p:sp>
        <p:nvSpPr>
          <p:cNvPr id="21" name="TextBox 20"/>
          <p:cNvSpPr txBox="1"/>
          <p:nvPr/>
        </p:nvSpPr>
        <p:spPr>
          <a:xfrm>
            <a:off x="457200" y="5431536"/>
            <a:ext cx="4846320" cy="365760"/>
          </a:xfrm>
          <a:prstGeom prst="rect">
            <a:avLst/>
          </a:prstGeom>
          <a:noFill/>
        </p:spPr>
        <p:txBody>
          <a:bodyPr wrap="square">
            <a:spAutoFit/>
          </a:bodyPr>
          <a:lstStyle/>
          <a:p>
            <a:pPr algn="l"/>
            <a:r>
              <a:rPr sz="1000" b="0" i="0">
                <a:solidFill>
                  <a:srgbClr val="1A1A2E"/>
                </a:solidFill>
              </a:rPr>
              <a:t>• Verlofaanvragen</a:t>
            </a:r>
          </a:p>
        </p:txBody>
      </p:sp>
      <p:sp>
        <p:nvSpPr>
          <p:cNvPr id="22" name="TextBox 21"/>
          <p:cNvSpPr txBox="1"/>
          <p:nvPr/>
        </p:nvSpPr>
        <p:spPr>
          <a:xfrm>
            <a:off x="457200" y="5852160"/>
            <a:ext cx="4846320" cy="365760"/>
          </a:xfrm>
          <a:prstGeom prst="rect">
            <a:avLst/>
          </a:prstGeom>
          <a:noFill/>
        </p:spPr>
        <p:txBody>
          <a:bodyPr wrap="square">
            <a:spAutoFit/>
          </a:bodyPr>
          <a:lstStyle/>
          <a:p>
            <a:pPr algn="l"/>
            <a:r>
              <a:rPr sz="1000" b="0" i="0">
                <a:solidFill>
                  <a:srgbClr val="1A1A2E"/>
                </a:solidFill>
              </a:rPr>
              <a:t>• Functiewijzigingen</a:t>
            </a:r>
          </a:p>
        </p:txBody>
      </p:sp>
      <p:sp>
        <p:nvSpPr>
          <p:cNvPr id="23" name="TextBox 22"/>
          <p:cNvSpPr txBox="1"/>
          <p:nvPr/>
        </p:nvSpPr>
        <p:spPr>
          <a:xfrm>
            <a:off x="457200" y="6272784"/>
            <a:ext cx="4846320" cy="365760"/>
          </a:xfrm>
          <a:prstGeom prst="rect">
            <a:avLst/>
          </a:prstGeom>
          <a:noFill/>
        </p:spPr>
        <p:txBody>
          <a:bodyPr wrap="square">
            <a:spAutoFit/>
          </a:bodyPr>
          <a:lstStyle/>
          <a:p>
            <a:pPr algn="l"/>
            <a:r>
              <a:rPr sz="1000" b="0" i="0">
                <a:solidFill>
                  <a:srgbClr val="1A1A2E"/>
                </a:solidFill>
              </a:rPr>
              <a:t>• Certificaten &amp; opleidingen</a:t>
            </a:r>
          </a:p>
        </p:txBody>
      </p:sp>
      <p:sp>
        <p:nvSpPr>
          <p:cNvPr id="24" name="Rectangle 23"/>
          <p:cNvSpPr/>
          <p:nvPr/>
        </p:nvSpPr>
        <p:spPr>
          <a:xfrm>
            <a:off x="6400800" y="1737360"/>
            <a:ext cx="5212080" cy="2651760"/>
          </a:xfrm>
          <a:prstGeom prst="rect">
            <a:avLst/>
          </a:prstGeom>
          <a:solidFill>
            <a:srgbClr val="FFFFFF"/>
          </a:solidFill>
          <a:ln w="25400">
            <a:solidFill>
              <a:srgbClr val="5C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1737360"/>
            <a:ext cx="5212080" cy="475488"/>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1810512"/>
            <a:ext cx="4937760" cy="347472"/>
          </a:xfrm>
          <a:prstGeom prst="rect">
            <a:avLst/>
          </a:prstGeom>
          <a:noFill/>
        </p:spPr>
        <p:txBody>
          <a:bodyPr wrap="square">
            <a:spAutoFit/>
          </a:bodyPr>
          <a:lstStyle/>
          <a:p>
            <a:pPr algn="l"/>
            <a:r>
              <a:rPr sz="1300" b="1" i="0">
                <a:solidFill>
                  <a:srgbClr val="FFFFFF"/>
                </a:solidFill>
              </a:rPr>
              <a:t>🏢 Facilitair</a:t>
            </a:r>
          </a:p>
        </p:txBody>
      </p:sp>
      <p:sp>
        <p:nvSpPr>
          <p:cNvPr id="27" name="TextBox 26"/>
          <p:cNvSpPr txBox="1"/>
          <p:nvPr/>
        </p:nvSpPr>
        <p:spPr>
          <a:xfrm>
            <a:off x="6583680" y="2304288"/>
            <a:ext cx="4846320" cy="365760"/>
          </a:xfrm>
          <a:prstGeom prst="rect">
            <a:avLst/>
          </a:prstGeom>
          <a:noFill/>
        </p:spPr>
        <p:txBody>
          <a:bodyPr wrap="square">
            <a:spAutoFit/>
          </a:bodyPr>
          <a:lstStyle/>
          <a:p>
            <a:pPr algn="l"/>
            <a:r>
              <a:rPr sz="1000" b="0" i="0">
                <a:solidFill>
                  <a:srgbClr val="1A1A2E"/>
                </a:solidFill>
              </a:rPr>
              <a:t>• Ruimtereservering</a:t>
            </a:r>
          </a:p>
        </p:txBody>
      </p:sp>
      <p:sp>
        <p:nvSpPr>
          <p:cNvPr id="28" name="TextBox 27"/>
          <p:cNvSpPr txBox="1"/>
          <p:nvPr/>
        </p:nvSpPr>
        <p:spPr>
          <a:xfrm>
            <a:off x="6583680" y="2724912"/>
            <a:ext cx="4846320" cy="365760"/>
          </a:xfrm>
          <a:prstGeom prst="rect">
            <a:avLst/>
          </a:prstGeom>
          <a:noFill/>
        </p:spPr>
        <p:txBody>
          <a:bodyPr wrap="square">
            <a:spAutoFit/>
          </a:bodyPr>
          <a:lstStyle/>
          <a:p>
            <a:pPr algn="l"/>
            <a:r>
              <a:rPr sz="1000" b="0" i="0">
                <a:solidFill>
                  <a:srgbClr val="1A1A2E"/>
                </a:solidFill>
              </a:rPr>
              <a:t>• Toegangspassen</a:t>
            </a:r>
          </a:p>
        </p:txBody>
      </p:sp>
      <p:sp>
        <p:nvSpPr>
          <p:cNvPr id="29" name="TextBox 28"/>
          <p:cNvSpPr txBox="1"/>
          <p:nvPr/>
        </p:nvSpPr>
        <p:spPr>
          <a:xfrm>
            <a:off x="6583680" y="3145536"/>
            <a:ext cx="4846320" cy="365760"/>
          </a:xfrm>
          <a:prstGeom prst="rect">
            <a:avLst/>
          </a:prstGeom>
          <a:noFill/>
        </p:spPr>
        <p:txBody>
          <a:bodyPr wrap="square">
            <a:spAutoFit/>
          </a:bodyPr>
          <a:lstStyle/>
          <a:p>
            <a:pPr algn="l"/>
            <a:r>
              <a:rPr sz="1000" b="0" i="0">
                <a:solidFill>
                  <a:srgbClr val="1A1A2E"/>
                </a:solidFill>
              </a:rPr>
              <a:t>• Meldingen gebouw/installaties</a:t>
            </a:r>
          </a:p>
        </p:txBody>
      </p:sp>
      <p:sp>
        <p:nvSpPr>
          <p:cNvPr id="30" name="TextBox 29"/>
          <p:cNvSpPr txBox="1"/>
          <p:nvPr/>
        </p:nvSpPr>
        <p:spPr>
          <a:xfrm>
            <a:off x="6583680" y="3566160"/>
            <a:ext cx="4846320" cy="365760"/>
          </a:xfrm>
          <a:prstGeom prst="rect">
            <a:avLst/>
          </a:prstGeom>
          <a:noFill/>
        </p:spPr>
        <p:txBody>
          <a:bodyPr wrap="square">
            <a:spAutoFit/>
          </a:bodyPr>
          <a:lstStyle/>
          <a:p>
            <a:pPr algn="l"/>
            <a:r>
              <a:rPr sz="1000" b="0" i="0">
                <a:solidFill>
                  <a:srgbClr val="1A1A2E"/>
                </a:solidFill>
              </a:rPr>
              <a:t>• Parkeer- &amp; vervoersregelingen</a:t>
            </a:r>
          </a:p>
        </p:txBody>
      </p:sp>
      <p:sp>
        <p:nvSpPr>
          <p:cNvPr id="31" name="TextBox 30"/>
          <p:cNvSpPr txBox="1"/>
          <p:nvPr/>
        </p:nvSpPr>
        <p:spPr>
          <a:xfrm>
            <a:off x="6583680" y="3986784"/>
            <a:ext cx="4846320" cy="365760"/>
          </a:xfrm>
          <a:prstGeom prst="rect">
            <a:avLst/>
          </a:prstGeom>
          <a:noFill/>
        </p:spPr>
        <p:txBody>
          <a:bodyPr wrap="square">
            <a:spAutoFit/>
          </a:bodyPr>
          <a:lstStyle/>
          <a:p>
            <a:pPr algn="l"/>
            <a:r>
              <a:rPr sz="1000" b="0" i="0">
                <a:solidFill>
                  <a:srgbClr val="1A1A2E"/>
                </a:solidFill>
              </a:rPr>
              <a:t>• Sleutelbeheer</a:t>
            </a:r>
          </a:p>
        </p:txBody>
      </p:sp>
      <p:sp>
        <p:nvSpPr>
          <p:cNvPr id="32" name="Rectangle 31"/>
          <p:cNvSpPr/>
          <p:nvPr/>
        </p:nvSpPr>
        <p:spPr>
          <a:xfrm>
            <a:off x="6400800" y="4023360"/>
            <a:ext cx="5212080" cy="2651760"/>
          </a:xfrm>
          <a:prstGeom prst="rect">
            <a:avLst/>
          </a:prstGeom>
          <a:solidFill>
            <a:srgbClr val="FFFFFF"/>
          </a:solidFill>
          <a:ln w="254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4023360"/>
            <a:ext cx="5212080" cy="475488"/>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4096512"/>
            <a:ext cx="4937760" cy="347472"/>
          </a:xfrm>
          <a:prstGeom prst="rect">
            <a:avLst/>
          </a:prstGeom>
          <a:noFill/>
        </p:spPr>
        <p:txBody>
          <a:bodyPr wrap="square">
            <a:spAutoFit/>
          </a:bodyPr>
          <a:lstStyle/>
          <a:p>
            <a:pPr algn="l"/>
            <a:r>
              <a:rPr sz="1300" b="1" i="0">
                <a:solidFill>
                  <a:srgbClr val="FFFFFF"/>
                </a:solidFill>
              </a:rPr>
              <a:t>💰 Finance</a:t>
            </a:r>
          </a:p>
        </p:txBody>
      </p:sp>
      <p:sp>
        <p:nvSpPr>
          <p:cNvPr id="35" name="TextBox 34"/>
          <p:cNvSpPr txBox="1"/>
          <p:nvPr/>
        </p:nvSpPr>
        <p:spPr>
          <a:xfrm>
            <a:off x="6583680" y="4590288"/>
            <a:ext cx="4846320" cy="365760"/>
          </a:xfrm>
          <a:prstGeom prst="rect">
            <a:avLst/>
          </a:prstGeom>
          <a:noFill/>
        </p:spPr>
        <p:txBody>
          <a:bodyPr wrap="square">
            <a:spAutoFit/>
          </a:bodyPr>
          <a:lstStyle/>
          <a:p>
            <a:pPr algn="l"/>
            <a:r>
              <a:rPr sz="1000" b="0" i="0">
                <a:solidFill>
                  <a:srgbClr val="1A1A2E"/>
                </a:solidFill>
              </a:rPr>
              <a:t>• Inkooporders &amp; aanvragen</a:t>
            </a:r>
          </a:p>
        </p:txBody>
      </p:sp>
      <p:sp>
        <p:nvSpPr>
          <p:cNvPr id="36" name="TextBox 35"/>
          <p:cNvSpPr txBox="1"/>
          <p:nvPr/>
        </p:nvSpPr>
        <p:spPr>
          <a:xfrm>
            <a:off x="6583680" y="5010912"/>
            <a:ext cx="4846320" cy="365760"/>
          </a:xfrm>
          <a:prstGeom prst="rect">
            <a:avLst/>
          </a:prstGeom>
          <a:noFill/>
        </p:spPr>
        <p:txBody>
          <a:bodyPr wrap="square">
            <a:spAutoFit/>
          </a:bodyPr>
          <a:lstStyle/>
          <a:p>
            <a:pPr algn="l"/>
            <a:r>
              <a:rPr sz="1000" b="0" i="0">
                <a:solidFill>
                  <a:srgbClr val="1A1A2E"/>
                </a:solidFill>
              </a:rPr>
              <a:t>• Declaraties &amp; vergoedingen</a:t>
            </a:r>
          </a:p>
        </p:txBody>
      </p:sp>
      <p:sp>
        <p:nvSpPr>
          <p:cNvPr id="37" name="TextBox 36"/>
          <p:cNvSpPr txBox="1"/>
          <p:nvPr/>
        </p:nvSpPr>
        <p:spPr>
          <a:xfrm>
            <a:off x="6583680" y="5431536"/>
            <a:ext cx="4846320" cy="365760"/>
          </a:xfrm>
          <a:prstGeom prst="rect">
            <a:avLst/>
          </a:prstGeom>
          <a:noFill/>
        </p:spPr>
        <p:txBody>
          <a:bodyPr wrap="square">
            <a:spAutoFit/>
          </a:bodyPr>
          <a:lstStyle/>
          <a:p>
            <a:pPr algn="l"/>
            <a:r>
              <a:rPr sz="1000" b="0" i="0">
                <a:solidFill>
                  <a:srgbClr val="1A1A2E"/>
                </a:solidFill>
              </a:rPr>
              <a:t>• Budgetautorisaties</a:t>
            </a:r>
          </a:p>
        </p:txBody>
      </p:sp>
      <p:sp>
        <p:nvSpPr>
          <p:cNvPr id="38" name="TextBox 37"/>
          <p:cNvSpPr txBox="1"/>
          <p:nvPr/>
        </p:nvSpPr>
        <p:spPr>
          <a:xfrm>
            <a:off x="6583680" y="5852160"/>
            <a:ext cx="4846320" cy="365760"/>
          </a:xfrm>
          <a:prstGeom prst="rect">
            <a:avLst/>
          </a:prstGeom>
          <a:noFill/>
        </p:spPr>
        <p:txBody>
          <a:bodyPr wrap="square">
            <a:spAutoFit/>
          </a:bodyPr>
          <a:lstStyle/>
          <a:p>
            <a:pPr algn="l"/>
            <a:r>
              <a:rPr sz="1000" b="0" i="0">
                <a:solidFill>
                  <a:srgbClr val="1A1A2E"/>
                </a:solidFill>
              </a:rPr>
              <a:t>• Leveranciersbeheer</a:t>
            </a:r>
          </a:p>
        </p:txBody>
      </p:sp>
      <p:sp>
        <p:nvSpPr>
          <p:cNvPr id="39" name="TextBox 38"/>
          <p:cNvSpPr txBox="1"/>
          <p:nvPr/>
        </p:nvSpPr>
        <p:spPr>
          <a:xfrm>
            <a:off x="6583680" y="6272784"/>
            <a:ext cx="4846320" cy="365760"/>
          </a:xfrm>
          <a:prstGeom prst="rect">
            <a:avLst/>
          </a:prstGeom>
          <a:noFill/>
        </p:spPr>
        <p:txBody>
          <a:bodyPr wrap="square">
            <a:spAutoFit/>
          </a:bodyPr>
          <a:lstStyle/>
          <a:p>
            <a:pPr algn="l"/>
            <a:r>
              <a:rPr sz="1000" b="0" i="0">
                <a:solidFill>
                  <a:srgbClr val="1A1A2E"/>
                </a:solidFill>
              </a:rPr>
              <a:t>• Facturatievragen</a:t>
            </a:r>
          </a:p>
        </p:txBody>
      </p:sp>
      <p:sp>
        <p:nvSpPr>
          <p:cNvPr id="40" name="TextBox 39"/>
          <p:cNvSpPr txBox="1"/>
          <p:nvPr/>
        </p:nvSpPr>
        <p:spPr>
          <a:xfrm>
            <a:off x="5074920" y="2944368"/>
            <a:ext cx="2011680" cy="320040"/>
          </a:xfrm>
          <a:prstGeom prst="rect">
            <a:avLst/>
          </a:prstGeom>
          <a:noFill/>
        </p:spPr>
        <p:txBody>
          <a:bodyPr wrap="square">
            <a:spAutoFit/>
          </a:bodyPr>
          <a:lstStyle/>
          <a:p>
            <a:pPr algn="ctr"/>
            <a:r>
              <a:rPr sz="1400" b="1" i="0">
                <a:solidFill>
                  <a:srgbClr val="0050A0"/>
                </a:solidFill>
              </a:rPr>
              <a:t>←  →</a:t>
            </a:r>
          </a:p>
        </p:txBody>
      </p:sp>
      <p:sp>
        <p:nvSpPr>
          <p:cNvPr id="41" name="TextBox 40"/>
          <p:cNvSpPr txBox="1"/>
          <p:nvPr/>
        </p:nvSpPr>
        <p:spPr>
          <a:xfrm>
            <a:off x="5074920" y="5230368"/>
            <a:ext cx="2011680" cy="320040"/>
          </a:xfrm>
          <a:prstGeom prst="rect">
            <a:avLst/>
          </a:prstGeom>
          <a:noFill/>
        </p:spPr>
        <p:txBody>
          <a:bodyPr wrap="square">
            <a:spAutoFit/>
          </a:bodyPr>
          <a:lstStyle/>
          <a:p>
            <a:pPr algn="ctr"/>
            <a:r>
              <a:rPr sz="1400" b="1" i="0">
                <a:solidFill>
                  <a:srgbClr val="0050A0"/>
                </a:solidFill>
              </a:rPr>
              <a:t>←  →</a:t>
            </a:r>
          </a:p>
        </p:txBody>
      </p:sp>
      <p:sp>
        <p:nvSpPr>
          <p:cNvPr id="42" name="Rectangle 41"/>
          <p:cNvSpPr/>
          <p:nvPr/>
        </p:nvSpPr>
        <p:spPr>
          <a:xfrm>
            <a:off x="274320" y="6291072"/>
            <a:ext cx="11612880" cy="25603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6318504"/>
            <a:ext cx="11338560" cy="201168"/>
          </a:xfrm>
          <a:prstGeom prst="rect">
            <a:avLst/>
          </a:prstGeom>
          <a:noFill/>
        </p:spPr>
        <p:txBody>
          <a:bodyPr wrap="square">
            <a:spAutoFit/>
          </a:bodyPr>
          <a:lstStyle/>
          <a:p>
            <a:pPr algn="l"/>
            <a:r>
              <a:rPr sz="1000" b="1" i="0">
                <a:solidFill>
                  <a:srgbClr val="FFFFFF"/>
                </a:solidFill>
              </a:rPr>
              <a:t>💡  Alle domeinen delen dezelfde workflow-engine, rapportage en identity-laag — geen silo's.</a:t>
            </a:r>
          </a:p>
        </p:txBody>
      </p:sp>
      <p:sp>
        <p:nvSpPr>
          <p:cNvPr id="44" name="TextBox 43"/>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Casus: Onboarding Externe Medewerker</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Van aanvraag door manager tot eerste werkdag</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1612880" cy="54864"/>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109728" cy="38404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 y="1572768"/>
            <a:ext cx="777240" cy="502920"/>
          </a:xfrm>
          <a:prstGeom prst="rect">
            <a:avLst/>
          </a:prstGeom>
          <a:noFill/>
        </p:spPr>
        <p:txBody>
          <a:bodyPr wrap="square">
            <a:spAutoFit/>
          </a:bodyPr>
          <a:lstStyle/>
          <a:p>
            <a:pPr algn="ctr"/>
            <a:r>
              <a:rPr sz="850" b="0" i="0">
                <a:solidFill>
                  <a:srgbClr val="0050A0"/>
                </a:solidFill>
              </a:rPr>
              <a:t>Aanvraag
ingediend</a:t>
            </a:r>
          </a:p>
        </p:txBody>
      </p:sp>
      <p:sp>
        <p:nvSpPr>
          <p:cNvPr id="9" name="Rectangle 8"/>
          <p:cNvSpPr/>
          <p:nvPr/>
        </p:nvSpPr>
        <p:spPr>
          <a:xfrm>
            <a:off x="2103120" y="1188720"/>
            <a:ext cx="109728" cy="38404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799" y="1572768"/>
            <a:ext cx="777240" cy="502920"/>
          </a:xfrm>
          <a:prstGeom prst="rect">
            <a:avLst/>
          </a:prstGeom>
          <a:noFill/>
        </p:spPr>
        <p:txBody>
          <a:bodyPr wrap="square">
            <a:spAutoFit/>
          </a:bodyPr>
          <a:lstStyle/>
          <a:p>
            <a:pPr algn="ctr"/>
            <a:r>
              <a:rPr sz="850" b="0" i="0">
                <a:solidFill>
                  <a:srgbClr val="0050A0"/>
                </a:solidFill>
              </a:rPr>
              <a:t>Budgethouder
goedkeuring</a:t>
            </a:r>
          </a:p>
        </p:txBody>
      </p:sp>
      <p:sp>
        <p:nvSpPr>
          <p:cNvPr id="11" name="Rectangle 10"/>
          <p:cNvSpPr/>
          <p:nvPr/>
        </p:nvSpPr>
        <p:spPr>
          <a:xfrm>
            <a:off x="4389120" y="1188720"/>
            <a:ext cx="109728" cy="38404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572768"/>
            <a:ext cx="777240" cy="502920"/>
          </a:xfrm>
          <a:prstGeom prst="rect">
            <a:avLst/>
          </a:prstGeom>
          <a:noFill/>
        </p:spPr>
        <p:txBody>
          <a:bodyPr wrap="square">
            <a:spAutoFit/>
          </a:bodyPr>
          <a:lstStyle/>
          <a:p>
            <a:pPr algn="ctr"/>
            <a:r>
              <a:rPr sz="850" b="0" i="0">
                <a:solidFill>
                  <a:srgbClr val="0050A0"/>
                </a:solidFill>
              </a:rPr>
              <a:t>Parallel
uitvoering</a:t>
            </a:r>
          </a:p>
        </p:txBody>
      </p:sp>
      <p:sp>
        <p:nvSpPr>
          <p:cNvPr id="13" name="Rectangle 12"/>
          <p:cNvSpPr/>
          <p:nvPr/>
        </p:nvSpPr>
        <p:spPr>
          <a:xfrm>
            <a:off x="8046720" y="1188720"/>
            <a:ext cx="109728" cy="38404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572768"/>
            <a:ext cx="777240" cy="502920"/>
          </a:xfrm>
          <a:prstGeom prst="rect">
            <a:avLst/>
          </a:prstGeom>
          <a:noFill/>
        </p:spPr>
        <p:txBody>
          <a:bodyPr wrap="square">
            <a:spAutoFit/>
          </a:bodyPr>
          <a:lstStyle/>
          <a:p>
            <a:pPr algn="ctr"/>
            <a:r>
              <a:rPr sz="850" b="0" i="0">
                <a:solidFill>
                  <a:srgbClr val="0050A0"/>
                </a:solidFill>
              </a:rPr>
              <a:t>Welkom
mail</a:t>
            </a:r>
          </a:p>
        </p:txBody>
      </p:sp>
      <p:sp>
        <p:nvSpPr>
          <p:cNvPr id="15" name="Rectangle 14"/>
          <p:cNvSpPr/>
          <p:nvPr/>
        </p:nvSpPr>
        <p:spPr>
          <a:xfrm>
            <a:off x="9966960" y="1188720"/>
            <a:ext cx="109728" cy="38404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1572768"/>
            <a:ext cx="777240" cy="502920"/>
          </a:xfrm>
          <a:prstGeom prst="rect">
            <a:avLst/>
          </a:prstGeom>
          <a:noFill/>
        </p:spPr>
        <p:txBody>
          <a:bodyPr wrap="square">
            <a:spAutoFit/>
          </a:bodyPr>
          <a:lstStyle/>
          <a:p>
            <a:pPr algn="ctr"/>
            <a:r>
              <a:rPr sz="850" b="0" i="0">
                <a:solidFill>
                  <a:srgbClr val="0050A0"/>
                </a:solidFill>
              </a:rPr>
              <a:t>Eerste
werkdag</a:t>
            </a:r>
          </a:p>
        </p:txBody>
      </p:sp>
      <p:sp>
        <p:nvSpPr>
          <p:cNvPr id="17" name="Rectangle 16"/>
          <p:cNvSpPr/>
          <p:nvPr/>
        </p:nvSpPr>
        <p:spPr>
          <a:xfrm>
            <a:off x="11247120" y="1188720"/>
            <a:ext cx="109728" cy="38404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0" y="1572768"/>
            <a:ext cx="777240" cy="502920"/>
          </a:xfrm>
          <a:prstGeom prst="rect">
            <a:avLst/>
          </a:prstGeom>
          <a:noFill/>
        </p:spPr>
        <p:txBody>
          <a:bodyPr wrap="square">
            <a:spAutoFit/>
          </a:bodyPr>
          <a:lstStyle/>
          <a:p>
            <a:pPr algn="ctr"/>
            <a:r>
              <a:rPr sz="850" b="0" i="0">
                <a:solidFill>
                  <a:srgbClr val="0050A0"/>
                </a:solidFill>
              </a:rPr>
              <a:t>Einde
contract</a:t>
            </a:r>
          </a:p>
        </p:txBody>
      </p:sp>
      <p:sp>
        <p:nvSpPr>
          <p:cNvPr id="19" name="Rectangle 18"/>
          <p:cNvSpPr/>
          <p:nvPr/>
        </p:nvSpPr>
        <p:spPr>
          <a:xfrm>
            <a:off x="274320" y="2286000"/>
            <a:ext cx="2834640" cy="3291840"/>
          </a:xfrm>
          <a:prstGeom prst="rect">
            <a:avLst/>
          </a:prstGeom>
          <a:solidFill>
            <a:srgbClr val="FFFFFF"/>
          </a:solidFill>
          <a:ln w="254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2286000"/>
            <a:ext cx="2834640" cy="43891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331720"/>
            <a:ext cx="2651760" cy="347472"/>
          </a:xfrm>
          <a:prstGeom prst="rect">
            <a:avLst/>
          </a:prstGeom>
          <a:noFill/>
        </p:spPr>
        <p:txBody>
          <a:bodyPr wrap="square">
            <a:spAutoFit/>
          </a:bodyPr>
          <a:lstStyle/>
          <a:p>
            <a:pPr algn="l"/>
            <a:r>
              <a:rPr sz="1100" b="1" i="0">
                <a:solidFill>
                  <a:srgbClr val="FFFFFF"/>
                </a:solidFill>
              </a:rPr>
              <a:t>💻 IT</a:t>
            </a:r>
          </a:p>
        </p:txBody>
      </p:sp>
      <p:sp>
        <p:nvSpPr>
          <p:cNvPr id="22" name="TextBox 21"/>
          <p:cNvSpPr txBox="1"/>
          <p:nvPr/>
        </p:nvSpPr>
        <p:spPr>
          <a:xfrm>
            <a:off x="365760" y="2816352"/>
            <a:ext cx="2651760" cy="475488"/>
          </a:xfrm>
          <a:prstGeom prst="rect">
            <a:avLst/>
          </a:prstGeom>
          <a:noFill/>
        </p:spPr>
        <p:txBody>
          <a:bodyPr wrap="square">
            <a:spAutoFit/>
          </a:bodyPr>
          <a:lstStyle/>
          <a:p>
            <a:pPr algn="l"/>
            <a:r>
              <a:rPr sz="1000" b="0" i="0">
                <a:solidFill>
                  <a:srgbClr val="1A1A2E"/>
                </a:solidFill>
              </a:rPr>
              <a:t>• Entra ID gastaccount</a:t>
            </a:r>
          </a:p>
        </p:txBody>
      </p:sp>
      <p:sp>
        <p:nvSpPr>
          <p:cNvPr id="23" name="TextBox 22"/>
          <p:cNvSpPr txBox="1"/>
          <p:nvPr/>
        </p:nvSpPr>
        <p:spPr>
          <a:xfrm>
            <a:off x="365760" y="3346704"/>
            <a:ext cx="2651760" cy="475488"/>
          </a:xfrm>
          <a:prstGeom prst="rect">
            <a:avLst/>
          </a:prstGeom>
          <a:noFill/>
        </p:spPr>
        <p:txBody>
          <a:bodyPr wrap="square">
            <a:spAutoFit/>
          </a:bodyPr>
          <a:lstStyle/>
          <a:p>
            <a:pPr algn="l"/>
            <a:r>
              <a:rPr sz="1000" b="0" i="0">
                <a:solidFill>
                  <a:srgbClr val="1A1A2E"/>
                </a:solidFill>
              </a:rPr>
              <a:t>• M365 F1/F3 licentie</a:t>
            </a:r>
          </a:p>
        </p:txBody>
      </p:sp>
      <p:sp>
        <p:nvSpPr>
          <p:cNvPr id="24" name="TextBox 23"/>
          <p:cNvSpPr txBox="1"/>
          <p:nvPr/>
        </p:nvSpPr>
        <p:spPr>
          <a:xfrm>
            <a:off x="365760" y="3877056"/>
            <a:ext cx="2651760" cy="475488"/>
          </a:xfrm>
          <a:prstGeom prst="rect">
            <a:avLst/>
          </a:prstGeom>
          <a:noFill/>
        </p:spPr>
        <p:txBody>
          <a:bodyPr wrap="square">
            <a:spAutoFit/>
          </a:bodyPr>
          <a:lstStyle/>
          <a:p>
            <a:pPr algn="l"/>
            <a:r>
              <a:rPr sz="1000" b="0" i="0">
                <a:solidFill>
                  <a:srgbClr val="1A1A2E"/>
                </a:solidFill>
              </a:rPr>
              <a:t>• Intune enrolment</a:t>
            </a:r>
          </a:p>
        </p:txBody>
      </p:sp>
      <p:sp>
        <p:nvSpPr>
          <p:cNvPr id="25" name="TextBox 24"/>
          <p:cNvSpPr txBox="1"/>
          <p:nvPr/>
        </p:nvSpPr>
        <p:spPr>
          <a:xfrm>
            <a:off x="365760" y="4407408"/>
            <a:ext cx="2651760" cy="475488"/>
          </a:xfrm>
          <a:prstGeom prst="rect">
            <a:avLst/>
          </a:prstGeom>
          <a:noFill/>
        </p:spPr>
        <p:txBody>
          <a:bodyPr wrap="square">
            <a:spAutoFit/>
          </a:bodyPr>
          <a:lstStyle/>
          <a:p>
            <a:pPr algn="l"/>
            <a:r>
              <a:rPr sz="1000" b="0" i="0">
                <a:solidFill>
                  <a:srgbClr val="1A1A2E"/>
                </a:solidFill>
              </a:rPr>
              <a:t>• Systeemtoegang</a:t>
            </a:r>
          </a:p>
        </p:txBody>
      </p:sp>
      <p:sp>
        <p:nvSpPr>
          <p:cNvPr id="26" name="Rectangle 25"/>
          <p:cNvSpPr/>
          <p:nvPr/>
        </p:nvSpPr>
        <p:spPr>
          <a:xfrm>
            <a:off x="3246120" y="2286000"/>
            <a:ext cx="2834640" cy="3291840"/>
          </a:xfrm>
          <a:prstGeom prst="rect">
            <a:avLst/>
          </a:prstGeom>
          <a:solidFill>
            <a:srgbClr val="FFFFFF"/>
          </a:solidFill>
          <a:ln w="254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46120" y="2286000"/>
            <a:ext cx="2834640" cy="438912"/>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37560" y="2331720"/>
            <a:ext cx="2651760" cy="347472"/>
          </a:xfrm>
          <a:prstGeom prst="rect">
            <a:avLst/>
          </a:prstGeom>
          <a:noFill/>
        </p:spPr>
        <p:txBody>
          <a:bodyPr wrap="square">
            <a:spAutoFit/>
          </a:bodyPr>
          <a:lstStyle/>
          <a:p>
            <a:pPr algn="l"/>
            <a:r>
              <a:rPr sz="1100" b="1" i="0">
                <a:solidFill>
                  <a:srgbClr val="FFFFFF"/>
                </a:solidFill>
              </a:rPr>
              <a:t>👥 HR</a:t>
            </a:r>
          </a:p>
        </p:txBody>
      </p:sp>
      <p:sp>
        <p:nvSpPr>
          <p:cNvPr id="29" name="TextBox 28"/>
          <p:cNvSpPr txBox="1"/>
          <p:nvPr/>
        </p:nvSpPr>
        <p:spPr>
          <a:xfrm>
            <a:off x="3337560" y="2816352"/>
            <a:ext cx="2651760" cy="475488"/>
          </a:xfrm>
          <a:prstGeom prst="rect">
            <a:avLst/>
          </a:prstGeom>
          <a:noFill/>
        </p:spPr>
        <p:txBody>
          <a:bodyPr wrap="square">
            <a:spAutoFit/>
          </a:bodyPr>
          <a:lstStyle/>
          <a:p>
            <a:pPr algn="l"/>
            <a:r>
              <a:rPr sz="1000" b="0" i="0">
                <a:solidFill>
                  <a:srgbClr val="1A1A2E"/>
                </a:solidFill>
              </a:rPr>
              <a:t>• Registratie HRM</a:t>
            </a:r>
          </a:p>
        </p:txBody>
      </p:sp>
      <p:sp>
        <p:nvSpPr>
          <p:cNvPr id="30" name="TextBox 29"/>
          <p:cNvSpPr txBox="1"/>
          <p:nvPr/>
        </p:nvSpPr>
        <p:spPr>
          <a:xfrm>
            <a:off x="3337560" y="3346704"/>
            <a:ext cx="2651760" cy="475488"/>
          </a:xfrm>
          <a:prstGeom prst="rect">
            <a:avLst/>
          </a:prstGeom>
          <a:noFill/>
        </p:spPr>
        <p:txBody>
          <a:bodyPr wrap="square">
            <a:spAutoFit/>
          </a:bodyPr>
          <a:lstStyle/>
          <a:p>
            <a:pPr algn="l"/>
            <a:r>
              <a:rPr sz="1000" b="0" i="0">
                <a:solidFill>
                  <a:srgbClr val="1A1A2E"/>
                </a:solidFill>
              </a:rPr>
              <a:t>• Contract / NDA</a:t>
            </a:r>
          </a:p>
        </p:txBody>
      </p:sp>
      <p:sp>
        <p:nvSpPr>
          <p:cNvPr id="31" name="TextBox 30"/>
          <p:cNvSpPr txBox="1"/>
          <p:nvPr/>
        </p:nvSpPr>
        <p:spPr>
          <a:xfrm>
            <a:off x="3337560" y="3877056"/>
            <a:ext cx="2651760" cy="475488"/>
          </a:xfrm>
          <a:prstGeom prst="rect">
            <a:avLst/>
          </a:prstGeom>
          <a:noFill/>
        </p:spPr>
        <p:txBody>
          <a:bodyPr wrap="square">
            <a:spAutoFit/>
          </a:bodyPr>
          <a:lstStyle/>
          <a:p>
            <a:pPr algn="l"/>
            <a:r>
              <a:rPr sz="1000" b="0" i="0">
                <a:solidFill>
                  <a:srgbClr val="1A1A2E"/>
                </a:solidFill>
              </a:rPr>
              <a:t>• AVG-grondslag vastleggen</a:t>
            </a:r>
          </a:p>
        </p:txBody>
      </p:sp>
      <p:sp>
        <p:nvSpPr>
          <p:cNvPr id="32" name="TextBox 31"/>
          <p:cNvSpPr txBox="1"/>
          <p:nvPr/>
        </p:nvSpPr>
        <p:spPr>
          <a:xfrm>
            <a:off x="3337560" y="4407408"/>
            <a:ext cx="2651760" cy="475488"/>
          </a:xfrm>
          <a:prstGeom prst="rect">
            <a:avLst/>
          </a:prstGeom>
          <a:noFill/>
        </p:spPr>
        <p:txBody>
          <a:bodyPr wrap="square">
            <a:spAutoFit/>
          </a:bodyPr>
          <a:lstStyle/>
          <a:p>
            <a:pPr algn="l"/>
            <a:r>
              <a:rPr sz="1000" b="0" i="0">
                <a:solidFill>
                  <a:srgbClr val="1A1A2E"/>
                </a:solidFill>
              </a:rPr>
              <a:t>• Inhuuradministratie</a:t>
            </a:r>
          </a:p>
        </p:txBody>
      </p:sp>
      <p:sp>
        <p:nvSpPr>
          <p:cNvPr id="33" name="Rectangle 32"/>
          <p:cNvSpPr/>
          <p:nvPr/>
        </p:nvSpPr>
        <p:spPr>
          <a:xfrm>
            <a:off x="6217920" y="2286000"/>
            <a:ext cx="2834640" cy="3291840"/>
          </a:xfrm>
          <a:prstGeom prst="rect">
            <a:avLst/>
          </a:prstGeom>
          <a:solidFill>
            <a:srgbClr val="FFFFFF"/>
          </a:solidFill>
          <a:ln w="25400">
            <a:solidFill>
              <a:srgbClr val="5C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2286000"/>
            <a:ext cx="2834640" cy="438912"/>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59" y="2331720"/>
            <a:ext cx="2651760" cy="347472"/>
          </a:xfrm>
          <a:prstGeom prst="rect">
            <a:avLst/>
          </a:prstGeom>
          <a:noFill/>
        </p:spPr>
        <p:txBody>
          <a:bodyPr wrap="square">
            <a:spAutoFit/>
          </a:bodyPr>
          <a:lstStyle/>
          <a:p>
            <a:pPr algn="l"/>
            <a:r>
              <a:rPr sz="1100" b="1" i="0">
                <a:solidFill>
                  <a:srgbClr val="FFFFFF"/>
                </a:solidFill>
              </a:rPr>
              <a:t>🏢 Facilit.</a:t>
            </a:r>
          </a:p>
        </p:txBody>
      </p:sp>
      <p:sp>
        <p:nvSpPr>
          <p:cNvPr id="36" name="TextBox 35"/>
          <p:cNvSpPr txBox="1"/>
          <p:nvPr/>
        </p:nvSpPr>
        <p:spPr>
          <a:xfrm>
            <a:off x="6309359" y="2816352"/>
            <a:ext cx="2651760" cy="475488"/>
          </a:xfrm>
          <a:prstGeom prst="rect">
            <a:avLst/>
          </a:prstGeom>
          <a:noFill/>
        </p:spPr>
        <p:txBody>
          <a:bodyPr wrap="square">
            <a:spAutoFit/>
          </a:bodyPr>
          <a:lstStyle/>
          <a:p>
            <a:pPr algn="l"/>
            <a:r>
              <a:rPr sz="1000" b="0" i="0">
                <a:solidFill>
                  <a:srgbClr val="1A1A2E"/>
                </a:solidFill>
              </a:rPr>
              <a:t>• Tijdelijke toegangspas</a:t>
            </a:r>
          </a:p>
        </p:txBody>
      </p:sp>
      <p:sp>
        <p:nvSpPr>
          <p:cNvPr id="37" name="TextBox 36"/>
          <p:cNvSpPr txBox="1"/>
          <p:nvPr/>
        </p:nvSpPr>
        <p:spPr>
          <a:xfrm>
            <a:off x="6309359" y="3346704"/>
            <a:ext cx="2651760" cy="475488"/>
          </a:xfrm>
          <a:prstGeom prst="rect">
            <a:avLst/>
          </a:prstGeom>
          <a:noFill/>
        </p:spPr>
        <p:txBody>
          <a:bodyPr wrap="square">
            <a:spAutoFit/>
          </a:bodyPr>
          <a:lstStyle/>
          <a:p>
            <a:pPr algn="l"/>
            <a:r>
              <a:rPr sz="1000" b="0" i="0">
                <a:solidFill>
                  <a:srgbClr val="1A1A2E"/>
                </a:solidFill>
              </a:rPr>
              <a:t>• Werkplek reserveren</a:t>
            </a:r>
          </a:p>
        </p:txBody>
      </p:sp>
      <p:sp>
        <p:nvSpPr>
          <p:cNvPr id="38" name="TextBox 37"/>
          <p:cNvSpPr txBox="1"/>
          <p:nvPr/>
        </p:nvSpPr>
        <p:spPr>
          <a:xfrm>
            <a:off x="6309359" y="3877056"/>
            <a:ext cx="2651760" cy="475488"/>
          </a:xfrm>
          <a:prstGeom prst="rect">
            <a:avLst/>
          </a:prstGeom>
          <a:noFill/>
        </p:spPr>
        <p:txBody>
          <a:bodyPr wrap="square">
            <a:spAutoFit/>
          </a:bodyPr>
          <a:lstStyle/>
          <a:p>
            <a:pPr algn="l"/>
            <a:r>
              <a:rPr sz="1000" b="0" i="0">
                <a:solidFill>
                  <a:srgbClr val="1A1A2E"/>
                </a:solidFill>
              </a:rPr>
              <a:t>• Locker/sleutel</a:t>
            </a:r>
          </a:p>
        </p:txBody>
      </p:sp>
      <p:sp>
        <p:nvSpPr>
          <p:cNvPr id="39" name="Rectangle 38"/>
          <p:cNvSpPr/>
          <p:nvPr/>
        </p:nvSpPr>
        <p:spPr>
          <a:xfrm>
            <a:off x="9098280" y="2286000"/>
            <a:ext cx="2834640" cy="3291840"/>
          </a:xfrm>
          <a:prstGeom prst="rect">
            <a:avLst/>
          </a:prstGeom>
          <a:solidFill>
            <a:srgbClr val="FFFFFF"/>
          </a:solidFill>
          <a:ln w="254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98280" y="2286000"/>
            <a:ext cx="2834640" cy="438912"/>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89719" y="2331720"/>
            <a:ext cx="2651760" cy="347472"/>
          </a:xfrm>
          <a:prstGeom prst="rect">
            <a:avLst/>
          </a:prstGeom>
          <a:noFill/>
        </p:spPr>
        <p:txBody>
          <a:bodyPr wrap="square">
            <a:spAutoFit/>
          </a:bodyPr>
          <a:lstStyle/>
          <a:p>
            <a:pPr algn="l"/>
            <a:r>
              <a:rPr sz="1100" b="1" i="0">
                <a:solidFill>
                  <a:srgbClr val="FFFFFF"/>
                </a:solidFill>
              </a:rPr>
              <a:t>💰 Finance</a:t>
            </a:r>
          </a:p>
        </p:txBody>
      </p:sp>
      <p:sp>
        <p:nvSpPr>
          <p:cNvPr id="42" name="TextBox 41"/>
          <p:cNvSpPr txBox="1"/>
          <p:nvPr/>
        </p:nvSpPr>
        <p:spPr>
          <a:xfrm>
            <a:off x="9189719" y="2816352"/>
            <a:ext cx="2651760" cy="475488"/>
          </a:xfrm>
          <a:prstGeom prst="rect">
            <a:avLst/>
          </a:prstGeom>
          <a:noFill/>
        </p:spPr>
        <p:txBody>
          <a:bodyPr wrap="square">
            <a:spAutoFit/>
          </a:bodyPr>
          <a:lstStyle/>
          <a:p>
            <a:pPr algn="l"/>
            <a:r>
              <a:rPr sz="1000" b="0" i="0">
                <a:solidFill>
                  <a:srgbClr val="1A1A2E"/>
                </a:solidFill>
              </a:rPr>
              <a:t>• Kostenplaats valideren</a:t>
            </a:r>
          </a:p>
        </p:txBody>
      </p:sp>
      <p:sp>
        <p:nvSpPr>
          <p:cNvPr id="43" name="TextBox 42"/>
          <p:cNvSpPr txBox="1"/>
          <p:nvPr/>
        </p:nvSpPr>
        <p:spPr>
          <a:xfrm>
            <a:off x="9189719" y="3346704"/>
            <a:ext cx="2651760" cy="475488"/>
          </a:xfrm>
          <a:prstGeom prst="rect">
            <a:avLst/>
          </a:prstGeom>
          <a:noFill/>
        </p:spPr>
        <p:txBody>
          <a:bodyPr wrap="square">
            <a:spAutoFit/>
          </a:bodyPr>
          <a:lstStyle/>
          <a:p>
            <a:pPr algn="l"/>
            <a:r>
              <a:rPr sz="1000" b="0" i="0">
                <a:solidFill>
                  <a:srgbClr val="1A1A2E"/>
                </a:solidFill>
              </a:rPr>
              <a:t>• Leverancier registreren</a:t>
            </a:r>
          </a:p>
        </p:txBody>
      </p:sp>
      <p:sp>
        <p:nvSpPr>
          <p:cNvPr id="44" name="Rectangle 43"/>
          <p:cNvSpPr/>
          <p:nvPr/>
        </p:nvSpPr>
        <p:spPr>
          <a:xfrm>
            <a:off x="274320" y="5687568"/>
            <a:ext cx="11612880" cy="530352"/>
          </a:xfrm>
          <a:prstGeom prst="rect">
            <a:avLst/>
          </a:prstGeom>
          <a:solidFill>
            <a:srgbClr val="E8F0E8"/>
          </a:solidFill>
          <a:ln w="127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5733288"/>
            <a:ext cx="2743200" cy="411480"/>
          </a:xfrm>
          <a:prstGeom prst="rect">
            <a:avLst/>
          </a:prstGeom>
          <a:noFill/>
        </p:spPr>
        <p:txBody>
          <a:bodyPr wrap="square">
            <a:spAutoFit/>
          </a:bodyPr>
          <a:lstStyle/>
          <a:p>
            <a:pPr algn="l"/>
            <a:r>
              <a:rPr sz="1000" b="1" i="0">
                <a:solidFill>
                  <a:srgbClr val="007050"/>
                </a:solidFill>
              </a:rPr>
              <a:t>🔄  Automatische verloopcyclus:</a:t>
            </a:r>
          </a:p>
        </p:txBody>
      </p:sp>
      <p:sp>
        <p:nvSpPr>
          <p:cNvPr id="46" name="TextBox 45"/>
          <p:cNvSpPr txBox="1"/>
          <p:nvPr/>
        </p:nvSpPr>
        <p:spPr>
          <a:xfrm>
            <a:off x="3291840" y="5760720"/>
            <a:ext cx="8412480" cy="411480"/>
          </a:xfrm>
          <a:prstGeom prst="rect">
            <a:avLst/>
          </a:prstGeom>
          <a:noFill/>
        </p:spPr>
        <p:txBody>
          <a:bodyPr wrap="square">
            <a:spAutoFit/>
          </a:bodyPr>
          <a:lstStyle/>
          <a:p>
            <a:pPr algn="l"/>
            <a:r>
              <a:rPr sz="1000" b="0" i="0">
                <a:solidFill>
                  <a:srgbClr val="1A1A2E"/>
                </a:solidFill>
              </a:rPr>
              <a:t>T-14 dagen → mail manager (verlengen?)    |    Einddatum → account deactiveren + pas blokkeren + data-retentie check (AVG)</a:t>
            </a:r>
          </a:p>
        </p:txBody>
      </p:sp>
      <p:sp>
        <p:nvSpPr>
          <p:cNvPr id="47" name="Rectangle 46"/>
          <p:cNvSpPr/>
          <p:nvPr/>
        </p:nvSpPr>
        <p:spPr>
          <a:xfrm>
            <a:off x="274320" y="6291072"/>
            <a:ext cx="11612880" cy="25603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6318504"/>
            <a:ext cx="11338560" cy="201168"/>
          </a:xfrm>
          <a:prstGeom prst="rect">
            <a:avLst/>
          </a:prstGeom>
          <a:noFill/>
        </p:spPr>
        <p:txBody>
          <a:bodyPr wrap="square">
            <a:spAutoFit/>
          </a:bodyPr>
          <a:lstStyle/>
          <a:p>
            <a:pPr algn="l"/>
            <a:r>
              <a:rPr sz="1000" b="1" i="0">
                <a:solidFill>
                  <a:srgbClr val="FFFFFF"/>
                </a:solidFill>
              </a:rPr>
              <a:t>💡  Einddatum is verplicht — het systeem handelt de offboarding automatisch af. Nul handmatige actie nodig.</a:t>
            </a:r>
          </a:p>
        </p:txBody>
      </p:sp>
      <p:sp>
        <p:nvSpPr>
          <p:cNvPr id="49" name="TextBox 48"/>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AI &amp; Automatisering in ESM</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Van reactief naar voorspellend servicebeheer</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5669280" cy="1572768"/>
          </a:xfrm>
          <a:prstGeom prst="rect">
            <a:avLst/>
          </a:prstGeom>
          <a:solidFill>
            <a:srgbClr val="FFFFFF"/>
          </a:solidFill>
          <a:ln w="190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109728" cy="1572768"/>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63040"/>
            <a:ext cx="5257800" cy="347472"/>
          </a:xfrm>
          <a:prstGeom prst="rect">
            <a:avLst/>
          </a:prstGeom>
          <a:noFill/>
        </p:spPr>
        <p:txBody>
          <a:bodyPr wrap="square">
            <a:spAutoFit/>
          </a:bodyPr>
          <a:lstStyle/>
          <a:p>
            <a:pPr algn="l"/>
            <a:r>
              <a:rPr sz="1200" b="1" i="0">
                <a:solidFill>
                  <a:srgbClr val="0050A0"/>
                </a:solidFill>
              </a:rPr>
              <a:t>🤖 Intelligente Triage</a:t>
            </a:r>
          </a:p>
        </p:txBody>
      </p:sp>
      <p:sp>
        <p:nvSpPr>
          <p:cNvPr id="9" name="TextBox 8"/>
          <p:cNvSpPr txBox="1"/>
          <p:nvPr/>
        </p:nvSpPr>
        <p:spPr>
          <a:xfrm>
            <a:off x="502920" y="1874519"/>
            <a:ext cx="5257800" cy="1005840"/>
          </a:xfrm>
          <a:prstGeom prst="rect">
            <a:avLst/>
          </a:prstGeom>
          <a:noFill/>
        </p:spPr>
        <p:txBody>
          <a:bodyPr wrap="square">
            <a:spAutoFit/>
          </a:bodyPr>
          <a:lstStyle/>
          <a:p>
            <a:pPr algn="l"/>
            <a:r>
              <a:rPr sz="1000" b="0" i="0">
                <a:solidFill>
                  <a:srgbClr val="1A1A2E"/>
                </a:solidFill>
              </a:rPr>
              <a:t>AI categoriseert en prioriteert inkomende meldingen automatisch. Routing naar juiste team zonder menselijke tussenkomst. Reduceert verwerkingstijd tot milliseconden.</a:t>
            </a:r>
          </a:p>
        </p:txBody>
      </p:sp>
      <p:sp>
        <p:nvSpPr>
          <p:cNvPr id="10" name="Rectangle 9"/>
          <p:cNvSpPr/>
          <p:nvPr/>
        </p:nvSpPr>
        <p:spPr>
          <a:xfrm>
            <a:off x="6217920" y="1371600"/>
            <a:ext cx="5669280" cy="1572768"/>
          </a:xfrm>
          <a:prstGeom prst="rect">
            <a:avLst/>
          </a:prstGeom>
          <a:solidFill>
            <a:srgbClr val="FFFFFF"/>
          </a:solidFill>
          <a:ln w="1905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371600"/>
            <a:ext cx="109728" cy="157276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63040"/>
            <a:ext cx="5257800" cy="347472"/>
          </a:xfrm>
          <a:prstGeom prst="rect">
            <a:avLst/>
          </a:prstGeom>
          <a:noFill/>
        </p:spPr>
        <p:txBody>
          <a:bodyPr wrap="square">
            <a:spAutoFit/>
          </a:bodyPr>
          <a:lstStyle/>
          <a:p>
            <a:pPr algn="l"/>
            <a:r>
              <a:rPr sz="1200" b="1" i="0">
                <a:solidFill>
                  <a:srgbClr val="007050"/>
                </a:solidFill>
              </a:rPr>
              <a:t>💬 Virtual Agent / Chatbot</a:t>
            </a:r>
          </a:p>
        </p:txBody>
      </p:sp>
      <p:sp>
        <p:nvSpPr>
          <p:cNvPr id="13" name="TextBox 12"/>
          <p:cNvSpPr txBox="1"/>
          <p:nvPr/>
        </p:nvSpPr>
        <p:spPr>
          <a:xfrm>
            <a:off x="6446520" y="1874519"/>
            <a:ext cx="5257800" cy="1005840"/>
          </a:xfrm>
          <a:prstGeom prst="rect">
            <a:avLst/>
          </a:prstGeom>
          <a:noFill/>
        </p:spPr>
        <p:txBody>
          <a:bodyPr wrap="square">
            <a:spAutoFit/>
          </a:bodyPr>
          <a:lstStyle/>
          <a:p>
            <a:pPr algn="l"/>
            <a:r>
              <a:rPr sz="1000" b="0" i="0">
                <a:solidFill>
                  <a:srgbClr val="1A1A2E"/>
                </a:solidFill>
              </a:rPr>
              <a:t>Beantwoordt veelgestelde vragen 24/7 zonder menselijke tussenkomst (wachtwoordreset, openingstijden, rooster). Escaleert naar mens bij complexe vragen.</a:t>
            </a:r>
          </a:p>
        </p:txBody>
      </p:sp>
      <p:sp>
        <p:nvSpPr>
          <p:cNvPr id="14" name="Rectangle 13"/>
          <p:cNvSpPr/>
          <p:nvPr/>
        </p:nvSpPr>
        <p:spPr>
          <a:xfrm>
            <a:off x="274320" y="3063240"/>
            <a:ext cx="5669280" cy="1572768"/>
          </a:xfrm>
          <a:prstGeom prst="rect">
            <a:avLst/>
          </a:prstGeom>
          <a:solidFill>
            <a:srgbClr val="FFFFFF"/>
          </a:solidFill>
          <a:ln w="19050">
            <a:solidFill>
              <a:srgbClr val="5C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063240"/>
            <a:ext cx="109728" cy="1572768"/>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154680"/>
            <a:ext cx="5257800" cy="347472"/>
          </a:xfrm>
          <a:prstGeom prst="rect">
            <a:avLst/>
          </a:prstGeom>
          <a:noFill/>
        </p:spPr>
        <p:txBody>
          <a:bodyPr wrap="square">
            <a:spAutoFit/>
          </a:bodyPr>
          <a:lstStyle/>
          <a:p>
            <a:pPr algn="l"/>
            <a:r>
              <a:rPr sz="1200" b="1" i="0">
                <a:solidFill>
                  <a:srgbClr val="5C2D91"/>
                </a:solidFill>
              </a:rPr>
              <a:t>🔮 Predictive Analytics</a:t>
            </a:r>
          </a:p>
        </p:txBody>
      </p:sp>
      <p:sp>
        <p:nvSpPr>
          <p:cNvPr id="17" name="TextBox 16"/>
          <p:cNvSpPr txBox="1"/>
          <p:nvPr/>
        </p:nvSpPr>
        <p:spPr>
          <a:xfrm>
            <a:off x="502920" y="3566160"/>
            <a:ext cx="5257800" cy="1005840"/>
          </a:xfrm>
          <a:prstGeom prst="rect">
            <a:avLst/>
          </a:prstGeom>
          <a:noFill/>
        </p:spPr>
        <p:txBody>
          <a:bodyPr wrap="square">
            <a:spAutoFit/>
          </a:bodyPr>
          <a:lstStyle/>
          <a:p>
            <a:pPr algn="l"/>
            <a:r>
              <a:rPr sz="1000" b="0" i="0">
                <a:solidFill>
                  <a:srgbClr val="1A1A2E"/>
                </a:solidFill>
              </a:rPr>
              <a:t>Voorspelt piekmomenten (start academisch jaar, examenweken). Signaleert afwijkingen in SLA-prestaties vroegtijdig. Capacity planning op basis van historische patronen.</a:t>
            </a:r>
          </a:p>
        </p:txBody>
      </p:sp>
      <p:sp>
        <p:nvSpPr>
          <p:cNvPr id="18" name="Rectangle 17"/>
          <p:cNvSpPr/>
          <p:nvPr/>
        </p:nvSpPr>
        <p:spPr>
          <a:xfrm>
            <a:off x="6217920" y="3063240"/>
            <a:ext cx="5669280" cy="1572768"/>
          </a:xfrm>
          <a:prstGeom prst="rect">
            <a:avLst/>
          </a:prstGeom>
          <a:solidFill>
            <a:srgbClr val="FFFFFF"/>
          </a:solidFill>
          <a:ln w="1905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063240"/>
            <a:ext cx="109728" cy="1572768"/>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154680"/>
            <a:ext cx="5257800" cy="347472"/>
          </a:xfrm>
          <a:prstGeom prst="rect">
            <a:avLst/>
          </a:prstGeom>
          <a:noFill/>
        </p:spPr>
        <p:txBody>
          <a:bodyPr wrap="square">
            <a:spAutoFit/>
          </a:bodyPr>
          <a:lstStyle/>
          <a:p>
            <a:pPr algn="l"/>
            <a:r>
              <a:rPr sz="1200" b="1" i="0">
                <a:solidFill>
                  <a:srgbClr val="D83600"/>
                </a:solidFill>
              </a:rPr>
              <a:t>⚡ Zero-Touch Provisioning</a:t>
            </a:r>
          </a:p>
        </p:txBody>
      </p:sp>
      <p:sp>
        <p:nvSpPr>
          <p:cNvPr id="21" name="TextBox 20"/>
          <p:cNvSpPr txBox="1"/>
          <p:nvPr/>
        </p:nvSpPr>
        <p:spPr>
          <a:xfrm>
            <a:off x="6446520" y="3566160"/>
            <a:ext cx="5257800" cy="1005840"/>
          </a:xfrm>
          <a:prstGeom prst="rect">
            <a:avLst/>
          </a:prstGeom>
          <a:noFill/>
        </p:spPr>
        <p:txBody>
          <a:bodyPr wrap="square">
            <a:spAutoFit/>
          </a:bodyPr>
          <a:lstStyle/>
          <a:p>
            <a:pPr algn="l"/>
            <a:r>
              <a:rPr sz="1000" b="0" i="0">
                <a:solidFill>
                  <a:srgbClr val="1A1A2E"/>
                </a:solidFill>
              </a:rPr>
              <a:t>Volledig geautomatiseerde levering: aanvraag → goedkeuring → uitvoering zonder menselijke actie. Accounts, licenties en toegangspassen worden automatisch aangemaakt én ingetrokken.</a:t>
            </a:r>
          </a:p>
        </p:txBody>
      </p:sp>
      <p:sp>
        <p:nvSpPr>
          <p:cNvPr id="22" name="Rectangle 21"/>
          <p:cNvSpPr/>
          <p:nvPr/>
        </p:nvSpPr>
        <p:spPr>
          <a:xfrm>
            <a:off x="274320" y="4754880"/>
            <a:ext cx="5669280" cy="1572768"/>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754880"/>
            <a:ext cx="109728" cy="157276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846320"/>
            <a:ext cx="5257800" cy="347472"/>
          </a:xfrm>
          <a:prstGeom prst="rect">
            <a:avLst/>
          </a:prstGeom>
          <a:noFill/>
        </p:spPr>
        <p:txBody>
          <a:bodyPr wrap="square">
            <a:spAutoFit/>
          </a:bodyPr>
          <a:lstStyle/>
          <a:p>
            <a:pPr algn="l"/>
            <a:r>
              <a:rPr sz="1200" b="1" i="0">
                <a:solidFill>
                  <a:srgbClr val="0078D4"/>
                </a:solidFill>
              </a:rPr>
              <a:t>📊 Copilot for ITSM</a:t>
            </a:r>
          </a:p>
        </p:txBody>
      </p:sp>
      <p:sp>
        <p:nvSpPr>
          <p:cNvPr id="25" name="TextBox 24"/>
          <p:cNvSpPr txBox="1"/>
          <p:nvPr/>
        </p:nvSpPr>
        <p:spPr>
          <a:xfrm>
            <a:off x="502920" y="5257800"/>
            <a:ext cx="5257800" cy="1005840"/>
          </a:xfrm>
          <a:prstGeom prst="rect">
            <a:avLst/>
          </a:prstGeom>
          <a:noFill/>
        </p:spPr>
        <p:txBody>
          <a:bodyPr wrap="square">
            <a:spAutoFit/>
          </a:bodyPr>
          <a:lstStyle/>
          <a:p>
            <a:pPr algn="l"/>
            <a:r>
              <a:rPr sz="1000" b="0" i="0">
                <a:solidFill>
                  <a:srgbClr val="1A1A2E"/>
                </a:solidFill>
              </a:rPr>
              <a:t>Microsoft Copilot in ServiceNow/TOPdesk: samenvattingen van incidents, automatisch gegenereerde resolutienotes, kennisartikelen op basis van opgeloste tickets.</a:t>
            </a:r>
          </a:p>
        </p:txBody>
      </p:sp>
      <p:sp>
        <p:nvSpPr>
          <p:cNvPr id="26" name="Rectangle 25"/>
          <p:cNvSpPr/>
          <p:nvPr/>
        </p:nvSpPr>
        <p:spPr>
          <a:xfrm>
            <a:off x="6217920" y="4754880"/>
            <a:ext cx="5669280" cy="1572768"/>
          </a:xfrm>
          <a:prstGeom prst="rect">
            <a:avLst/>
          </a:prstGeom>
          <a:solidFill>
            <a:srgbClr val="FFFFFF"/>
          </a:solidFill>
          <a:ln w="19050">
            <a:solidFill>
              <a:srgbClr val="804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4754880"/>
            <a:ext cx="109728" cy="1572768"/>
          </a:xfrm>
          <a:prstGeom prst="rect">
            <a:avLst/>
          </a:prstGeom>
          <a:solidFill>
            <a:srgbClr val="80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846320"/>
            <a:ext cx="5257800" cy="347472"/>
          </a:xfrm>
          <a:prstGeom prst="rect">
            <a:avLst/>
          </a:prstGeom>
          <a:noFill/>
        </p:spPr>
        <p:txBody>
          <a:bodyPr wrap="square">
            <a:spAutoFit/>
          </a:bodyPr>
          <a:lstStyle/>
          <a:p>
            <a:pPr algn="l"/>
            <a:r>
              <a:rPr sz="1200" b="1" i="0">
                <a:solidFill>
                  <a:srgbClr val="804000"/>
                </a:solidFill>
              </a:rPr>
              <a:t>⚠️ AI Governance (kritisch)</a:t>
            </a:r>
          </a:p>
        </p:txBody>
      </p:sp>
      <p:sp>
        <p:nvSpPr>
          <p:cNvPr id="29" name="TextBox 28"/>
          <p:cNvSpPr txBox="1"/>
          <p:nvPr/>
        </p:nvSpPr>
        <p:spPr>
          <a:xfrm>
            <a:off x="6446520" y="5257800"/>
            <a:ext cx="5257800" cy="1005840"/>
          </a:xfrm>
          <a:prstGeom prst="rect">
            <a:avLst/>
          </a:prstGeom>
          <a:noFill/>
        </p:spPr>
        <p:txBody>
          <a:bodyPr wrap="square">
            <a:spAutoFit/>
          </a:bodyPr>
          <a:lstStyle/>
          <a:p>
            <a:pPr algn="l"/>
            <a:r>
              <a:rPr sz="1000" b="0" i="0">
                <a:solidFill>
                  <a:srgbClr val="1A1A2E"/>
                </a:solidFill>
              </a:rPr>
              <a:t>Wie is eigenaar van AI-beslissingen? Auditability vereist. AVG-compliance bij geautomatiseerde besluiten (artikel 22). Menselijk toezicht bij hoog-impact acties verplicht.</a:t>
            </a:r>
          </a:p>
        </p:txBody>
      </p:sp>
      <p:sp>
        <p:nvSpPr>
          <p:cNvPr id="30" name="TextBox 29"/>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Platformlandschap ESM</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Marktoverzicht — wat past bij een universiteit?</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5669280" cy="2423160"/>
          </a:xfrm>
          <a:prstGeom prst="rect">
            <a:avLst/>
          </a:prstGeom>
          <a:solidFill>
            <a:srgbClr val="FFFFFF"/>
          </a:solidFill>
          <a:ln w="254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53312"/>
            <a:ext cx="5669280" cy="59436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408176"/>
            <a:ext cx="3657600" cy="411480"/>
          </a:xfrm>
          <a:prstGeom prst="rect">
            <a:avLst/>
          </a:prstGeom>
          <a:noFill/>
        </p:spPr>
        <p:txBody>
          <a:bodyPr wrap="square">
            <a:spAutoFit/>
          </a:bodyPr>
          <a:lstStyle/>
          <a:p>
            <a:pPr algn="l"/>
            <a:r>
              <a:rPr sz="1600" b="1" i="0">
                <a:solidFill>
                  <a:srgbClr val="FFFFFF"/>
                </a:solidFill>
              </a:rPr>
              <a:t>ServiceNow</a:t>
            </a:r>
          </a:p>
        </p:txBody>
      </p:sp>
      <p:sp>
        <p:nvSpPr>
          <p:cNvPr id="9" name="TextBox 8"/>
          <p:cNvSpPr txBox="1"/>
          <p:nvPr/>
        </p:nvSpPr>
        <p:spPr>
          <a:xfrm>
            <a:off x="411479" y="1737360"/>
            <a:ext cx="5394960" cy="274320"/>
          </a:xfrm>
          <a:prstGeom prst="rect">
            <a:avLst/>
          </a:prstGeom>
          <a:noFill/>
        </p:spPr>
        <p:txBody>
          <a:bodyPr wrap="square">
            <a:spAutoFit/>
          </a:bodyPr>
          <a:lstStyle/>
          <a:p>
            <a:pPr algn="l"/>
            <a:r>
              <a:rPr sz="1000" b="0" i="1">
                <a:solidFill>
                  <a:srgbClr val="FFFFFF"/>
                </a:solidFill>
              </a:rPr>
              <a:t>Enterprise marktleider</a:t>
            </a:r>
          </a:p>
        </p:txBody>
      </p:sp>
      <p:sp>
        <p:nvSpPr>
          <p:cNvPr id="10" name="TextBox 9"/>
          <p:cNvSpPr txBox="1"/>
          <p:nvPr/>
        </p:nvSpPr>
        <p:spPr>
          <a:xfrm>
            <a:off x="411479" y="2066543"/>
            <a:ext cx="2560320" cy="402336"/>
          </a:xfrm>
          <a:prstGeom prst="rect">
            <a:avLst/>
          </a:prstGeom>
          <a:noFill/>
        </p:spPr>
        <p:txBody>
          <a:bodyPr wrap="square">
            <a:spAutoFit/>
          </a:bodyPr>
          <a:lstStyle/>
          <a:p>
            <a:pPr algn="l"/>
            <a:r>
              <a:rPr sz="950" b="0" i="0">
                <a:solidFill>
                  <a:srgbClr val="1A1A2E"/>
                </a:solidFill>
              </a:rPr>
              <a:t>✓ Compleet: ITSM + HR + Facilitair + Finance</a:t>
            </a:r>
          </a:p>
        </p:txBody>
      </p:sp>
      <p:sp>
        <p:nvSpPr>
          <p:cNvPr id="11" name="TextBox 10"/>
          <p:cNvSpPr txBox="1"/>
          <p:nvPr/>
        </p:nvSpPr>
        <p:spPr>
          <a:xfrm>
            <a:off x="411479" y="2523744"/>
            <a:ext cx="2560320" cy="402336"/>
          </a:xfrm>
          <a:prstGeom prst="rect">
            <a:avLst/>
          </a:prstGeom>
          <a:noFill/>
        </p:spPr>
        <p:txBody>
          <a:bodyPr wrap="square">
            <a:spAutoFit/>
          </a:bodyPr>
          <a:lstStyle/>
          <a:p>
            <a:pPr algn="l"/>
            <a:r>
              <a:rPr sz="950" b="0" i="0">
                <a:solidFill>
                  <a:srgbClr val="1A1A2E"/>
                </a:solidFill>
              </a:rPr>
              <a:t>✓ Nu Assist (AI copilot) ingebakken</a:t>
            </a:r>
          </a:p>
        </p:txBody>
      </p:sp>
      <p:sp>
        <p:nvSpPr>
          <p:cNvPr id="12" name="TextBox 11"/>
          <p:cNvSpPr txBox="1"/>
          <p:nvPr/>
        </p:nvSpPr>
        <p:spPr>
          <a:xfrm>
            <a:off x="411479" y="2980944"/>
            <a:ext cx="2560320" cy="402336"/>
          </a:xfrm>
          <a:prstGeom prst="rect">
            <a:avLst/>
          </a:prstGeom>
          <a:noFill/>
        </p:spPr>
        <p:txBody>
          <a:bodyPr wrap="square">
            <a:spAutoFit/>
          </a:bodyPr>
          <a:lstStyle/>
          <a:p>
            <a:pPr algn="l"/>
            <a:r>
              <a:rPr sz="950" b="0" i="0">
                <a:solidFill>
                  <a:srgbClr val="1A1A2E"/>
                </a:solidFill>
              </a:rPr>
              <a:t>✓ Sterk in grote, complexe organisaties</a:t>
            </a:r>
          </a:p>
        </p:txBody>
      </p:sp>
      <p:sp>
        <p:nvSpPr>
          <p:cNvPr id="13" name="TextBox 12"/>
          <p:cNvSpPr txBox="1"/>
          <p:nvPr/>
        </p:nvSpPr>
        <p:spPr>
          <a:xfrm>
            <a:off x="3291839" y="2066543"/>
            <a:ext cx="2560320" cy="402336"/>
          </a:xfrm>
          <a:prstGeom prst="rect">
            <a:avLst/>
          </a:prstGeom>
          <a:noFill/>
        </p:spPr>
        <p:txBody>
          <a:bodyPr wrap="square">
            <a:spAutoFit/>
          </a:bodyPr>
          <a:lstStyle/>
          <a:p>
            <a:pPr algn="l"/>
            <a:r>
              <a:rPr sz="950" b="0" i="0">
                <a:solidFill>
                  <a:srgbClr val="647487"/>
                </a:solidFill>
              </a:rPr>
              <a:t>△ SURF-overeenkomst beschikbaar</a:t>
            </a:r>
          </a:p>
        </p:txBody>
      </p:sp>
      <p:sp>
        <p:nvSpPr>
          <p:cNvPr id="14" name="TextBox 13"/>
          <p:cNvSpPr txBox="1"/>
          <p:nvPr/>
        </p:nvSpPr>
        <p:spPr>
          <a:xfrm>
            <a:off x="3291839" y="2523744"/>
            <a:ext cx="2560320" cy="402336"/>
          </a:xfrm>
          <a:prstGeom prst="rect">
            <a:avLst/>
          </a:prstGeom>
          <a:noFill/>
        </p:spPr>
        <p:txBody>
          <a:bodyPr wrap="square">
            <a:spAutoFit/>
          </a:bodyPr>
          <a:lstStyle/>
          <a:p>
            <a:pPr algn="l"/>
            <a:r>
              <a:rPr sz="950" b="0" i="0">
                <a:solidFill>
                  <a:srgbClr val="647487"/>
                </a:solidFill>
              </a:rPr>
              <a:t>△ Hoge implementatiekosten &amp; doorlooptijd</a:t>
            </a:r>
          </a:p>
        </p:txBody>
      </p:sp>
      <p:sp>
        <p:nvSpPr>
          <p:cNvPr id="15" name="TextBox 14"/>
          <p:cNvSpPr txBox="1"/>
          <p:nvPr/>
        </p:nvSpPr>
        <p:spPr>
          <a:xfrm>
            <a:off x="3291839" y="2980944"/>
            <a:ext cx="2560320" cy="402336"/>
          </a:xfrm>
          <a:prstGeom prst="rect">
            <a:avLst/>
          </a:prstGeom>
          <a:noFill/>
        </p:spPr>
        <p:txBody>
          <a:bodyPr wrap="square">
            <a:spAutoFit/>
          </a:bodyPr>
          <a:lstStyle/>
          <a:p>
            <a:pPr algn="l"/>
            <a:r>
              <a:rPr sz="950" b="0" i="0">
                <a:solidFill>
                  <a:srgbClr val="647487"/>
                </a:solidFill>
              </a:rPr>
              <a:t>△ Vereist dedicated platform-team</a:t>
            </a:r>
          </a:p>
        </p:txBody>
      </p:sp>
      <p:sp>
        <p:nvSpPr>
          <p:cNvPr id="16" name="Rectangle 15"/>
          <p:cNvSpPr/>
          <p:nvPr/>
        </p:nvSpPr>
        <p:spPr>
          <a:xfrm>
            <a:off x="6217920" y="1353312"/>
            <a:ext cx="5669280" cy="2423160"/>
          </a:xfrm>
          <a:prstGeom prst="rect">
            <a:avLst/>
          </a:prstGeom>
          <a:solidFill>
            <a:srgbClr val="FFFFFF"/>
          </a:solidFill>
          <a:ln w="254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53312"/>
            <a:ext cx="5669280" cy="5943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408176"/>
            <a:ext cx="3657600" cy="411480"/>
          </a:xfrm>
          <a:prstGeom prst="rect">
            <a:avLst/>
          </a:prstGeom>
          <a:noFill/>
        </p:spPr>
        <p:txBody>
          <a:bodyPr wrap="square">
            <a:spAutoFit/>
          </a:bodyPr>
          <a:lstStyle/>
          <a:p>
            <a:pPr algn="l"/>
            <a:r>
              <a:rPr sz="1600" b="1" i="0">
                <a:solidFill>
                  <a:srgbClr val="FFFFFF"/>
                </a:solidFill>
              </a:rPr>
              <a:t>TOPdesk</a:t>
            </a:r>
          </a:p>
        </p:txBody>
      </p:sp>
      <p:sp>
        <p:nvSpPr>
          <p:cNvPr id="19" name="TextBox 18"/>
          <p:cNvSpPr txBox="1"/>
          <p:nvPr/>
        </p:nvSpPr>
        <p:spPr>
          <a:xfrm>
            <a:off x="6355080" y="1737360"/>
            <a:ext cx="5394960" cy="274320"/>
          </a:xfrm>
          <a:prstGeom prst="rect">
            <a:avLst/>
          </a:prstGeom>
          <a:noFill/>
        </p:spPr>
        <p:txBody>
          <a:bodyPr wrap="square">
            <a:spAutoFit/>
          </a:bodyPr>
          <a:lstStyle/>
          <a:p>
            <a:pPr algn="l"/>
            <a:r>
              <a:rPr sz="1000" b="0" i="1">
                <a:solidFill>
                  <a:srgbClr val="FFFFFF"/>
                </a:solidFill>
              </a:rPr>
              <a:t>Sterk in NL onderwijs</a:t>
            </a:r>
          </a:p>
        </p:txBody>
      </p:sp>
      <p:sp>
        <p:nvSpPr>
          <p:cNvPr id="20" name="TextBox 19"/>
          <p:cNvSpPr txBox="1"/>
          <p:nvPr/>
        </p:nvSpPr>
        <p:spPr>
          <a:xfrm>
            <a:off x="6355080" y="2066543"/>
            <a:ext cx="2560320" cy="402336"/>
          </a:xfrm>
          <a:prstGeom prst="rect">
            <a:avLst/>
          </a:prstGeom>
          <a:noFill/>
        </p:spPr>
        <p:txBody>
          <a:bodyPr wrap="square">
            <a:spAutoFit/>
          </a:bodyPr>
          <a:lstStyle/>
          <a:p>
            <a:pPr algn="l"/>
            <a:r>
              <a:rPr sz="950" b="0" i="0">
                <a:solidFill>
                  <a:srgbClr val="1A1A2E"/>
                </a:solidFill>
              </a:rPr>
              <a:t>✓ Veel Nederlandse universiteiten &amp; HBO</a:t>
            </a:r>
          </a:p>
        </p:txBody>
      </p:sp>
      <p:sp>
        <p:nvSpPr>
          <p:cNvPr id="21" name="TextBox 20"/>
          <p:cNvSpPr txBox="1"/>
          <p:nvPr/>
        </p:nvSpPr>
        <p:spPr>
          <a:xfrm>
            <a:off x="6355080" y="2523744"/>
            <a:ext cx="2560320" cy="402336"/>
          </a:xfrm>
          <a:prstGeom prst="rect">
            <a:avLst/>
          </a:prstGeom>
          <a:noFill/>
        </p:spPr>
        <p:txBody>
          <a:bodyPr wrap="square">
            <a:spAutoFit/>
          </a:bodyPr>
          <a:lstStyle/>
          <a:p>
            <a:pPr algn="l"/>
            <a:r>
              <a:rPr sz="950" b="0" i="0">
                <a:solidFill>
                  <a:srgbClr val="1A1A2E"/>
                </a:solidFill>
              </a:rPr>
              <a:t>✓ Eenvoudiger implementatie dan ServiceNow</a:t>
            </a:r>
          </a:p>
        </p:txBody>
      </p:sp>
      <p:sp>
        <p:nvSpPr>
          <p:cNvPr id="22" name="TextBox 21"/>
          <p:cNvSpPr txBox="1"/>
          <p:nvPr/>
        </p:nvSpPr>
        <p:spPr>
          <a:xfrm>
            <a:off x="6355080" y="2980944"/>
            <a:ext cx="2560320" cy="402336"/>
          </a:xfrm>
          <a:prstGeom prst="rect">
            <a:avLst/>
          </a:prstGeom>
          <a:noFill/>
        </p:spPr>
        <p:txBody>
          <a:bodyPr wrap="square">
            <a:spAutoFit/>
          </a:bodyPr>
          <a:lstStyle/>
          <a:p>
            <a:pPr algn="l"/>
            <a:r>
              <a:rPr sz="950" b="0" i="0">
                <a:solidFill>
                  <a:srgbClr val="1A1A2E"/>
                </a:solidFill>
              </a:rPr>
              <a:t>✓ ESM-modules beschikbaar (HR, Facilitair)</a:t>
            </a:r>
          </a:p>
        </p:txBody>
      </p:sp>
      <p:sp>
        <p:nvSpPr>
          <p:cNvPr id="23" name="TextBox 22"/>
          <p:cNvSpPr txBox="1"/>
          <p:nvPr/>
        </p:nvSpPr>
        <p:spPr>
          <a:xfrm>
            <a:off x="9235440" y="2066543"/>
            <a:ext cx="2560320" cy="402336"/>
          </a:xfrm>
          <a:prstGeom prst="rect">
            <a:avLst/>
          </a:prstGeom>
          <a:noFill/>
        </p:spPr>
        <p:txBody>
          <a:bodyPr wrap="square">
            <a:spAutoFit/>
          </a:bodyPr>
          <a:lstStyle/>
          <a:p>
            <a:pPr algn="l"/>
            <a:r>
              <a:rPr sz="950" b="0" i="0">
                <a:solidFill>
                  <a:srgbClr val="647487"/>
                </a:solidFill>
              </a:rPr>
              <a:t>△ Lokale support &amp; community</a:t>
            </a:r>
          </a:p>
        </p:txBody>
      </p:sp>
      <p:sp>
        <p:nvSpPr>
          <p:cNvPr id="24" name="TextBox 23"/>
          <p:cNvSpPr txBox="1"/>
          <p:nvPr/>
        </p:nvSpPr>
        <p:spPr>
          <a:xfrm>
            <a:off x="9235440" y="2523744"/>
            <a:ext cx="2560320" cy="402336"/>
          </a:xfrm>
          <a:prstGeom prst="rect">
            <a:avLst/>
          </a:prstGeom>
          <a:noFill/>
        </p:spPr>
        <p:txBody>
          <a:bodyPr wrap="square">
            <a:spAutoFit/>
          </a:bodyPr>
          <a:lstStyle/>
          <a:p>
            <a:pPr algn="l"/>
            <a:r>
              <a:rPr sz="950" b="0" i="0">
                <a:solidFill>
                  <a:srgbClr val="647487"/>
                </a:solidFill>
              </a:rPr>
              <a:t>△ Minder AI-functionaliteit vs. top-tier</a:t>
            </a:r>
          </a:p>
        </p:txBody>
      </p:sp>
      <p:sp>
        <p:nvSpPr>
          <p:cNvPr id="25" name="TextBox 24"/>
          <p:cNvSpPr txBox="1"/>
          <p:nvPr/>
        </p:nvSpPr>
        <p:spPr>
          <a:xfrm>
            <a:off x="9235440" y="2980944"/>
            <a:ext cx="2560320" cy="402336"/>
          </a:xfrm>
          <a:prstGeom prst="rect">
            <a:avLst/>
          </a:prstGeom>
          <a:noFill/>
        </p:spPr>
        <p:txBody>
          <a:bodyPr wrap="square">
            <a:spAutoFit/>
          </a:bodyPr>
          <a:lstStyle/>
          <a:p>
            <a:pPr algn="l"/>
            <a:r>
              <a:rPr sz="950" b="0" i="0">
                <a:solidFill>
                  <a:srgbClr val="647487"/>
                </a:solidFill>
              </a:rPr>
              <a:t>△ Schaalbaarheid beperkt bij &gt;5000 users</a:t>
            </a:r>
          </a:p>
        </p:txBody>
      </p:sp>
      <p:sp>
        <p:nvSpPr>
          <p:cNvPr id="26" name="Rectangle 25"/>
          <p:cNvSpPr/>
          <p:nvPr/>
        </p:nvSpPr>
        <p:spPr>
          <a:xfrm>
            <a:off x="274320" y="3913631"/>
            <a:ext cx="5669280" cy="2423160"/>
          </a:xfrm>
          <a:prstGeom prst="rect">
            <a:avLst/>
          </a:prstGeom>
          <a:solidFill>
            <a:srgbClr val="FFFFFF"/>
          </a:solidFill>
          <a:ln w="25400">
            <a:solidFill>
              <a:srgbClr val="5C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913631"/>
            <a:ext cx="5669280" cy="59436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79" y="3968495"/>
            <a:ext cx="3657600" cy="411480"/>
          </a:xfrm>
          <a:prstGeom prst="rect">
            <a:avLst/>
          </a:prstGeom>
          <a:noFill/>
        </p:spPr>
        <p:txBody>
          <a:bodyPr wrap="square">
            <a:spAutoFit/>
          </a:bodyPr>
          <a:lstStyle/>
          <a:p>
            <a:pPr algn="l"/>
            <a:r>
              <a:rPr sz="1600" b="1" i="0">
                <a:solidFill>
                  <a:srgbClr val="FFFFFF"/>
                </a:solidFill>
              </a:rPr>
              <a:t>Jira Service Mgmt</a:t>
            </a:r>
          </a:p>
        </p:txBody>
      </p:sp>
      <p:sp>
        <p:nvSpPr>
          <p:cNvPr id="29" name="TextBox 28"/>
          <p:cNvSpPr txBox="1"/>
          <p:nvPr/>
        </p:nvSpPr>
        <p:spPr>
          <a:xfrm>
            <a:off x="411479" y="4297679"/>
            <a:ext cx="5394960" cy="274320"/>
          </a:xfrm>
          <a:prstGeom prst="rect">
            <a:avLst/>
          </a:prstGeom>
          <a:noFill/>
        </p:spPr>
        <p:txBody>
          <a:bodyPr wrap="square">
            <a:spAutoFit/>
          </a:bodyPr>
          <a:lstStyle/>
          <a:p>
            <a:pPr algn="l"/>
            <a:r>
              <a:rPr sz="1000" b="0" i="1">
                <a:solidFill>
                  <a:srgbClr val="FFFFFF"/>
                </a:solidFill>
              </a:rPr>
              <a:t>Technisch / developer-gericht</a:t>
            </a:r>
          </a:p>
        </p:txBody>
      </p:sp>
      <p:sp>
        <p:nvSpPr>
          <p:cNvPr id="30" name="TextBox 29"/>
          <p:cNvSpPr txBox="1"/>
          <p:nvPr/>
        </p:nvSpPr>
        <p:spPr>
          <a:xfrm>
            <a:off x="411479" y="4626864"/>
            <a:ext cx="2560320" cy="402336"/>
          </a:xfrm>
          <a:prstGeom prst="rect">
            <a:avLst/>
          </a:prstGeom>
          <a:noFill/>
        </p:spPr>
        <p:txBody>
          <a:bodyPr wrap="square">
            <a:spAutoFit/>
          </a:bodyPr>
          <a:lstStyle/>
          <a:p>
            <a:pPr algn="l"/>
            <a:r>
              <a:rPr sz="950" b="0" i="0">
                <a:solidFill>
                  <a:srgbClr val="1A1A2E"/>
                </a:solidFill>
              </a:rPr>
              <a:t>✓ Ideaal als IT al Jira gebruikt (Confluence)</a:t>
            </a:r>
          </a:p>
        </p:txBody>
      </p:sp>
      <p:sp>
        <p:nvSpPr>
          <p:cNvPr id="31" name="TextBox 30"/>
          <p:cNvSpPr txBox="1"/>
          <p:nvPr/>
        </p:nvSpPr>
        <p:spPr>
          <a:xfrm>
            <a:off x="411479" y="5084064"/>
            <a:ext cx="2560320" cy="402336"/>
          </a:xfrm>
          <a:prstGeom prst="rect">
            <a:avLst/>
          </a:prstGeom>
          <a:noFill/>
        </p:spPr>
        <p:txBody>
          <a:bodyPr wrap="square">
            <a:spAutoFit/>
          </a:bodyPr>
          <a:lstStyle/>
          <a:p>
            <a:pPr algn="l"/>
            <a:r>
              <a:rPr sz="950" b="0" i="0">
                <a:solidFill>
                  <a:srgbClr val="1A1A2E"/>
                </a:solidFill>
              </a:rPr>
              <a:t>✓ Agile-native; goed voor DevOps/IT-teams</a:t>
            </a:r>
          </a:p>
        </p:txBody>
      </p:sp>
      <p:sp>
        <p:nvSpPr>
          <p:cNvPr id="32" name="TextBox 31"/>
          <p:cNvSpPr txBox="1"/>
          <p:nvPr/>
        </p:nvSpPr>
        <p:spPr>
          <a:xfrm>
            <a:off x="411479" y="5541264"/>
            <a:ext cx="2560320" cy="402336"/>
          </a:xfrm>
          <a:prstGeom prst="rect">
            <a:avLst/>
          </a:prstGeom>
          <a:noFill/>
        </p:spPr>
        <p:txBody>
          <a:bodyPr wrap="square">
            <a:spAutoFit/>
          </a:bodyPr>
          <a:lstStyle/>
          <a:p>
            <a:pPr algn="l"/>
            <a:r>
              <a:rPr sz="950" b="0" i="0">
                <a:solidFill>
                  <a:srgbClr val="1A1A2E"/>
                </a:solidFill>
              </a:rPr>
              <a:t>✓ ESM uitbreidbaar via Atlassian marketplace</a:t>
            </a:r>
          </a:p>
        </p:txBody>
      </p:sp>
      <p:sp>
        <p:nvSpPr>
          <p:cNvPr id="33" name="TextBox 32"/>
          <p:cNvSpPr txBox="1"/>
          <p:nvPr/>
        </p:nvSpPr>
        <p:spPr>
          <a:xfrm>
            <a:off x="3291839" y="4626864"/>
            <a:ext cx="2560320" cy="402336"/>
          </a:xfrm>
          <a:prstGeom prst="rect">
            <a:avLst/>
          </a:prstGeom>
          <a:noFill/>
        </p:spPr>
        <p:txBody>
          <a:bodyPr wrap="square">
            <a:spAutoFit/>
          </a:bodyPr>
          <a:lstStyle/>
          <a:p>
            <a:pPr algn="l"/>
            <a:r>
              <a:rPr sz="950" b="0" i="0">
                <a:solidFill>
                  <a:srgbClr val="647487"/>
                </a:solidFill>
              </a:rPr>
              <a:t>△ Lager instapniveau qua kosten</a:t>
            </a:r>
          </a:p>
        </p:txBody>
      </p:sp>
      <p:sp>
        <p:nvSpPr>
          <p:cNvPr id="34" name="TextBox 33"/>
          <p:cNvSpPr txBox="1"/>
          <p:nvPr/>
        </p:nvSpPr>
        <p:spPr>
          <a:xfrm>
            <a:off x="3291839" y="5084064"/>
            <a:ext cx="2560320" cy="402336"/>
          </a:xfrm>
          <a:prstGeom prst="rect">
            <a:avLst/>
          </a:prstGeom>
          <a:noFill/>
        </p:spPr>
        <p:txBody>
          <a:bodyPr wrap="square">
            <a:spAutoFit/>
          </a:bodyPr>
          <a:lstStyle/>
          <a:p>
            <a:pPr algn="l"/>
            <a:r>
              <a:rPr sz="950" b="0" i="0">
                <a:solidFill>
                  <a:srgbClr val="647487"/>
                </a:solidFill>
              </a:rPr>
              <a:t>△ Minder geschikt voor HR/Facilitair workflows</a:t>
            </a:r>
          </a:p>
        </p:txBody>
      </p:sp>
      <p:sp>
        <p:nvSpPr>
          <p:cNvPr id="35" name="TextBox 34"/>
          <p:cNvSpPr txBox="1"/>
          <p:nvPr/>
        </p:nvSpPr>
        <p:spPr>
          <a:xfrm>
            <a:off x="3291839" y="5541264"/>
            <a:ext cx="2560320" cy="402336"/>
          </a:xfrm>
          <a:prstGeom prst="rect">
            <a:avLst/>
          </a:prstGeom>
          <a:noFill/>
        </p:spPr>
        <p:txBody>
          <a:bodyPr wrap="square">
            <a:spAutoFit/>
          </a:bodyPr>
          <a:lstStyle/>
          <a:p>
            <a:pPr algn="l"/>
            <a:r>
              <a:rPr sz="950" b="0" i="0">
                <a:solidFill>
                  <a:srgbClr val="647487"/>
                </a:solidFill>
              </a:rPr>
              <a:t>△ Beperkte out-of-box ITIL-processen</a:t>
            </a:r>
          </a:p>
        </p:txBody>
      </p:sp>
      <p:sp>
        <p:nvSpPr>
          <p:cNvPr id="36" name="Rectangle 35"/>
          <p:cNvSpPr/>
          <p:nvPr/>
        </p:nvSpPr>
        <p:spPr>
          <a:xfrm>
            <a:off x="6217920" y="3913631"/>
            <a:ext cx="5669280" cy="2423160"/>
          </a:xfrm>
          <a:prstGeom prst="rect">
            <a:avLst/>
          </a:prstGeom>
          <a:solidFill>
            <a:srgbClr val="FFFFFF"/>
          </a:solidFill>
          <a:ln w="254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0" y="3913631"/>
            <a:ext cx="5669280" cy="594360"/>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968495"/>
            <a:ext cx="3657600" cy="411480"/>
          </a:xfrm>
          <a:prstGeom prst="rect">
            <a:avLst/>
          </a:prstGeom>
          <a:noFill/>
        </p:spPr>
        <p:txBody>
          <a:bodyPr wrap="square">
            <a:spAutoFit/>
          </a:bodyPr>
          <a:lstStyle/>
          <a:p>
            <a:pPr algn="l"/>
            <a:r>
              <a:rPr sz="1600" b="1" i="0">
                <a:solidFill>
                  <a:srgbClr val="FFFFFF"/>
                </a:solidFill>
              </a:rPr>
              <a:t>FreshService</a:t>
            </a:r>
          </a:p>
        </p:txBody>
      </p:sp>
      <p:sp>
        <p:nvSpPr>
          <p:cNvPr id="39" name="TextBox 38"/>
          <p:cNvSpPr txBox="1"/>
          <p:nvPr/>
        </p:nvSpPr>
        <p:spPr>
          <a:xfrm>
            <a:off x="6355080" y="4297679"/>
            <a:ext cx="5394960" cy="274320"/>
          </a:xfrm>
          <a:prstGeom prst="rect">
            <a:avLst/>
          </a:prstGeom>
          <a:noFill/>
        </p:spPr>
        <p:txBody>
          <a:bodyPr wrap="square">
            <a:spAutoFit/>
          </a:bodyPr>
          <a:lstStyle/>
          <a:p>
            <a:pPr algn="l"/>
            <a:r>
              <a:rPr sz="1000" b="0" i="1">
                <a:solidFill>
                  <a:srgbClr val="FFFFFF"/>
                </a:solidFill>
              </a:rPr>
              <a:t>Mid-market instapoptie</a:t>
            </a:r>
          </a:p>
        </p:txBody>
      </p:sp>
      <p:sp>
        <p:nvSpPr>
          <p:cNvPr id="40" name="TextBox 39"/>
          <p:cNvSpPr txBox="1"/>
          <p:nvPr/>
        </p:nvSpPr>
        <p:spPr>
          <a:xfrm>
            <a:off x="6355080" y="4626864"/>
            <a:ext cx="2560320" cy="402336"/>
          </a:xfrm>
          <a:prstGeom prst="rect">
            <a:avLst/>
          </a:prstGeom>
          <a:noFill/>
        </p:spPr>
        <p:txBody>
          <a:bodyPr wrap="square">
            <a:spAutoFit/>
          </a:bodyPr>
          <a:lstStyle/>
          <a:p>
            <a:pPr algn="l"/>
            <a:r>
              <a:rPr sz="950" b="0" i="0">
                <a:solidFill>
                  <a:srgbClr val="1A1A2E"/>
                </a:solidFill>
              </a:rPr>
              <a:t>✓ Snelle implementatie (weken ipv maanden)</a:t>
            </a:r>
          </a:p>
        </p:txBody>
      </p:sp>
      <p:sp>
        <p:nvSpPr>
          <p:cNvPr id="41" name="TextBox 40"/>
          <p:cNvSpPr txBox="1"/>
          <p:nvPr/>
        </p:nvSpPr>
        <p:spPr>
          <a:xfrm>
            <a:off x="6355080" y="5084064"/>
            <a:ext cx="2560320" cy="402336"/>
          </a:xfrm>
          <a:prstGeom prst="rect">
            <a:avLst/>
          </a:prstGeom>
          <a:noFill/>
        </p:spPr>
        <p:txBody>
          <a:bodyPr wrap="square">
            <a:spAutoFit/>
          </a:bodyPr>
          <a:lstStyle/>
          <a:p>
            <a:pPr algn="l"/>
            <a:r>
              <a:rPr sz="950" b="0" i="0">
                <a:solidFill>
                  <a:srgbClr val="1A1A2E"/>
                </a:solidFill>
              </a:rPr>
              <a:t>✓ Moderne UX, laag instapniveau</a:t>
            </a:r>
          </a:p>
        </p:txBody>
      </p:sp>
      <p:sp>
        <p:nvSpPr>
          <p:cNvPr id="42" name="TextBox 41"/>
          <p:cNvSpPr txBox="1"/>
          <p:nvPr/>
        </p:nvSpPr>
        <p:spPr>
          <a:xfrm>
            <a:off x="6355080" y="5541264"/>
            <a:ext cx="2560320" cy="402336"/>
          </a:xfrm>
          <a:prstGeom prst="rect">
            <a:avLst/>
          </a:prstGeom>
          <a:noFill/>
        </p:spPr>
        <p:txBody>
          <a:bodyPr wrap="square">
            <a:spAutoFit/>
          </a:bodyPr>
          <a:lstStyle/>
          <a:p>
            <a:pPr algn="l"/>
            <a:r>
              <a:rPr sz="950" b="0" i="0">
                <a:solidFill>
                  <a:srgbClr val="1A1A2E"/>
                </a:solidFill>
              </a:rPr>
              <a:t>✓ AI-functionaliteit ingebakken (Freddy AI)</a:t>
            </a:r>
          </a:p>
        </p:txBody>
      </p:sp>
      <p:sp>
        <p:nvSpPr>
          <p:cNvPr id="43" name="TextBox 42"/>
          <p:cNvSpPr txBox="1"/>
          <p:nvPr/>
        </p:nvSpPr>
        <p:spPr>
          <a:xfrm>
            <a:off x="9235440" y="4626864"/>
            <a:ext cx="2560320" cy="402336"/>
          </a:xfrm>
          <a:prstGeom prst="rect">
            <a:avLst/>
          </a:prstGeom>
          <a:noFill/>
        </p:spPr>
        <p:txBody>
          <a:bodyPr wrap="square">
            <a:spAutoFit/>
          </a:bodyPr>
          <a:lstStyle/>
          <a:p>
            <a:pPr algn="l"/>
            <a:r>
              <a:rPr sz="950" b="0" i="0">
                <a:solidFill>
                  <a:srgbClr val="647487"/>
                </a:solidFill>
              </a:rPr>
              <a:t>△ Geschikt voor kleinere instellingen</a:t>
            </a:r>
          </a:p>
        </p:txBody>
      </p:sp>
      <p:sp>
        <p:nvSpPr>
          <p:cNvPr id="44" name="TextBox 43"/>
          <p:cNvSpPr txBox="1"/>
          <p:nvPr/>
        </p:nvSpPr>
        <p:spPr>
          <a:xfrm>
            <a:off x="9235440" y="5084064"/>
            <a:ext cx="2560320" cy="402336"/>
          </a:xfrm>
          <a:prstGeom prst="rect">
            <a:avLst/>
          </a:prstGeom>
          <a:noFill/>
        </p:spPr>
        <p:txBody>
          <a:bodyPr wrap="square">
            <a:spAutoFit/>
          </a:bodyPr>
          <a:lstStyle/>
          <a:p>
            <a:pPr algn="l"/>
            <a:r>
              <a:rPr sz="950" b="0" i="0">
                <a:solidFill>
                  <a:srgbClr val="647487"/>
                </a:solidFill>
              </a:rPr>
              <a:t>△ Minder diep dan ServiceNow/TOPdesk</a:t>
            </a:r>
          </a:p>
        </p:txBody>
      </p:sp>
      <p:sp>
        <p:nvSpPr>
          <p:cNvPr id="45" name="TextBox 44"/>
          <p:cNvSpPr txBox="1"/>
          <p:nvPr/>
        </p:nvSpPr>
        <p:spPr>
          <a:xfrm>
            <a:off x="9235440" y="5541264"/>
            <a:ext cx="2560320" cy="402336"/>
          </a:xfrm>
          <a:prstGeom prst="rect">
            <a:avLst/>
          </a:prstGeom>
          <a:noFill/>
        </p:spPr>
        <p:txBody>
          <a:bodyPr wrap="square">
            <a:spAutoFit/>
          </a:bodyPr>
          <a:lstStyle/>
          <a:p>
            <a:pPr algn="l"/>
            <a:r>
              <a:rPr sz="950" b="0" i="0">
                <a:solidFill>
                  <a:srgbClr val="647487"/>
                </a:solidFill>
              </a:rPr>
              <a:t>△ Beperkte NL-community &amp; support</a:t>
            </a:r>
          </a:p>
        </p:txBody>
      </p:sp>
      <p:sp>
        <p:nvSpPr>
          <p:cNvPr id="46" name="TextBox 45"/>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Implementatieroadmap</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Van pilot naar organisatiebrede uitrol — gefaseerde aanpak</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25880"/>
            <a:ext cx="2834640" cy="5257800"/>
          </a:xfrm>
          <a:prstGeom prst="rect">
            <a:avLst/>
          </a:prstGeom>
          <a:solidFill>
            <a:srgbClr val="FFFFFF"/>
          </a:solidFill>
          <a:ln w="254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2834640" cy="80467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53312"/>
            <a:ext cx="2651760" cy="502920"/>
          </a:xfrm>
          <a:prstGeom prst="rect">
            <a:avLst/>
          </a:prstGeom>
          <a:noFill/>
        </p:spPr>
        <p:txBody>
          <a:bodyPr wrap="square">
            <a:spAutoFit/>
          </a:bodyPr>
          <a:lstStyle/>
          <a:p>
            <a:pPr algn="ctr"/>
            <a:r>
              <a:rPr sz="1300" b="1" i="0">
                <a:solidFill>
                  <a:srgbClr val="FFFFFF"/>
                </a:solidFill>
              </a:rPr>
              <a:t>Fase 1
Fundament</a:t>
            </a:r>
          </a:p>
        </p:txBody>
      </p:sp>
      <p:sp>
        <p:nvSpPr>
          <p:cNvPr id="9" name="TextBox 8"/>
          <p:cNvSpPr txBox="1"/>
          <p:nvPr/>
        </p:nvSpPr>
        <p:spPr>
          <a:xfrm>
            <a:off x="365760" y="1828800"/>
            <a:ext cx="2651760" cy="256032"/>
          </a:xfrm>
          <a:prstGeom prst="rect">
            <a:avLst/>
          </a:prstGeom>
          <a:noFill/>
        </p:spPr>
        <p:txBody>
          <a:bodyPr wrap="square">
            <a:spAutoFit/>
          </a:bodyPr>
          <a:lstStyle/>
          <a:p>
            <a:pPr algn="ctr"/>
            <a:r>
              <a:rPr sz="1000" b="0" i="1">
                <a:solidFill>
                  <a:srgbClr val="FFFFFF"/>
                </a:solidFill>
              </a:rPr>
              <a:t>0–6 mnd</a:t>
            </a:r>
          </a:p>
        </p:txBody>
      </p:sp>
      <p:sp>
        <p:nvSpPr>
          <p:cNvPr id="10" name="TextBox 9"/>
          <p:cNvSpPr txBox="1"/>
          <p:nvPr/>
        </p:nvSpPr>
        <p:spPr>
          <a:xfrm>
            <a:off x="411479" y="2212848"/>
            <a:ext cx="2560320" cy="512064"/>
          </a:xfrm>
          <a:prstGeom prst="rect">
            <a:avLst/>
          </a:prstGeom>
          <a:noFill/>
        </p:spPr>
        <p:txBody>
          <a:bodyPr wrap="square">
            <a:spAutoFit/>
          </a:bodyPr>
          <a:lstStyle/>
          <a:p>
            <a:pPr algn="l"/>
            <a:r>
              <a:rPr sz="1000" b="0" i="0">
                <a:solidFill>
                  <a:srgbClr val="1A1A2E"/>
                </a:solidFill>
              </a:rPr>
              <a:t>• IT Service Catalogus opbouwen</a:t>
            </a:r>
          </a:p>
        </p:txBody>
      </p:sp>
      <p:sp>
        <p:nvSpPr>
          <p:cNvPr id="11" name="TextBox 10"/>
          <p:cNvSpPr txBox="1"/>
          <p:nvPr/>
        </p:nvSpPr>
        <p:spPr>
          <a:xfrm>
            <a:off x="411479" y="2779776"/>
            <a:ext cx="2560320" cy="512064"/>
          </a:xfrm>
          <a:prstGeom prst="rect">
            <a:avLst/>
          </a:prstGeom>
          <a:noFill/>
        </p:spPr>
        <p:txBody>
          <a:bodyPr wrap="square">
            <a:spAutoFit/>
          </a:bodyPr>
          <a:lstStyle/>
          <a:p>
            <a:pPr algn="l"/>
            <a:r>
              <a:rPr sz="1000" b="0" i="0">
                <a:solidFill>
                  <a:srgbClr val="1A1A2E"/>
                </a:solidFill>
              </a:rPr>
              <a:t>• Processen standaardiseren</a:t>
            </a:r>
          </a:p>
        </p:txBody>
      </p:sp>
      <p:sp>
        <p:nvSpPr>
          <p:cNvPr id="12" name="TextBox 11"/>
          <p:cNvSpPr txBox="1"/>
          <p:nvPr/>
        </p:nvSpPr>
        <p:spPr>
          <a:xfrm>
            <a:off x="411479" y="3346704"/>
            <a:ext cx="2560320" cy="512064"/>
          </a:xfrm>
          <a:prstGeom prst="rect">
            <a:avLst/>
          </a:prstGeom>
          <a:noFill/>
        </p:spPr>
        <p:txBody>
          <a:bodyPr wrap="square">
            <a:spAutoFit/>
          </a:bodyPr>
          <a:lstStyle/>
          <a:p>
            <a:pPr algn="l"/>
            <a:r>
              <a:rPr sz="1000" b="0" i="0">
                <a:solidFill>
                  <a:srgbClr val="1A1A2E"/>
                </a:solidFill>
              </a:rPr>
              <a:t>• Platform selectie &amp; inrichting</a:t>
            </a:r>
          </a:p>
        </p:txBody>
      </p:sp>
      <p:sp>
        <p:nvSpPr>
          <p:cNvPr id="13" name="TextBox 12"/>
          <p:cNvSpPr txBox="1"/>
          <p:nvPr/>
        </p:nvSpPr>
        <p:spPr>
          <a:xfrm>
            <a:off x="411479" y="3913631"/>
            <a:ext cx="2560320" cy="512064"/>
          </a:xfrm>
          <a:prstGeom prst="rect">
            <a:avLst/>
          </a:prstGeom>
          <a:noFill/>
        </p:spPr>
        <p:txBody>
          <a:bodyPr wrap="square">
            <a:spAutoFit/>
          </a:bodyPr>
          <a:lstStyle/>
          <a:p>
            <a:pPr algn="l"/>
            <a:r>
              <a:rPr sz="1000" b="0" i="0">
                <a:solidFill>
                  <a:srgbClr val="1A1A2E"/>
                </a:solidFill>
              </a:rPr>
              <a:t>• CMDB &amp; identity koppelen</a:t>
            </a:r>
          </a:p>
        </p:txBody>
      </p:sp>
      <p:sp>
        <p:nvSpPr>
          <p:cNvPr id="14" name="TextBox 13"/>
          <p:cNvSpPr txBox="1"/>
          <p:nvPr/>
        </p:nvSpPr>
        <p:spPr>
          <a:xfrm>
            <a:off x="411479" y="4480560"/>
            <a:ext cx="2560320" cy="512064"/>
          </a:xfrm>
          <a:prstGeom prst="rect">
            <a:avLst/>
          </a:prstGeom>
          <a:noFill/>
        </p:spPr>
        <p:txBody>
          <a:bodyPr wrap="square">
            <a:spAutoFit/>
          </a:bodyPr>
          <a:lstStyle/>
          <a:p>
            <a:pPr algn="l"/>
            <a:r>
              <a:rPr sz="1000" b="0" i="0">
                <a:solidFill>
                  <a:srgbClr val="1A1A2E"/>
                </a:solidFill>
              </a:rPr>
              <a:t>• Beheer &amp; ownership inrichten</a:t>
            </a:r>
          </a:p>
        </p:txBody>
      </p:sp>
      <p:sp>
        <p:nvSpPr>
          <p:cNvPr id="15" name="TextBox 14"/>
          <p:cNvSpPr txBox="1"/>
          <p:nvPr/>
        </p:nvSpPr>
        <p:spPr>
          <a:xfrm>
            <a:off x="3017520" y="3429000"/>
            <a:ext cx="320040" cy="365760"/>
          </a:xfrm>
          <a:prstGeom prst="rect">
            <a:avLst/>
          </a:prstGeom>
          <a:noFill/>
        </p:spPr>
        <p:txBody>
          <a:bodyPr wrap="square">
            <a:spAutoFit/>
          </a:bodyPr>
          <a:lstStyle/>
          <a:p>
            <a:pPr algn="l"/>
            <a:r>
              <a:rPr sz="1800" b="1" i="0">
                <a:solidFill>
                  <a:srgbClr val="0050A0"/>
                </a:solidFill>
              </a:rPr>
              <a:t>→</a:t>
            </a:r>
          </a:p>
        </p:txBody>
      </p:sp>
      <p:sp>
        <p:nvSpPr>
          <p:cNvPr id="16" name="Rectangle 15"/>
          <p:cNvSpPr/>
          <p:nvPr/>
        </p:nvSpPr>
        <p:spPr>
          <a:xfrm>
            <a:off x="3255263" y="1325880"/>
            <a:ext cx="2834640" cy="5257800"/>
          </a:xfrm>
          <a:prstGeom prst="rect">
            <a:avLst/>
          </a:prstGeom>
          <a:solidFill>
            <a:srgbClr val="FFFFFF"/>
          </a:solidFill>
          <a:ln w="254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55263" y="1325880"/>
            <a:ext cx="2834640" cy="804672"/>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46703" y="1353312"/>
            <a:ext cx="2651760" cy="502920"/>
          </a:xfrm>
          <a:prstGeom prst="rect">
            <a:avLst/>
          </a:prstGeom>
          <a:noFill/>
        </p:spPr>
        <p:txBody>
          <a:bodyPr wrap="square">
            <a:spAutoFit/>
          </a:bodyPr>
          <a:lstStyle/>
          <a:p>
            <a:pPr algn="ctr"/>
            <a:r>
              <a:rPr sz="1300" b="1" i="0">
                <a:solidFill>
                  <a:srgbClr val="FFFFFF"/>
                </a:solidFill>
              </a:rPr>
              <a:t>Fase 2
Uitbreiding HR</a:t>
            </a:r>
          </a:p>
        </p:txBody>
      </p:sp>
      <p:sp>
        <p:nvSpPr>
          <p:cNvPr id="19" name="TextBox 18"/>
          <p:cNvSpPr txBox="1"/>
          <p:nvPr/>
        </p:nvSpPr>
        <p:spPr>
          <a:xfrm>
            <a:off x="3346703" y="1828800"/>
            <a:ext cx="2651760" cy="256032"/>
          </a:xfrm>
          <a:prstGeom prst="rect">
            <a:avLst/>
          </a:prstGeom>
          <a:noFill/>
        </p:spPr>
        <p:txBody>
          <a:bodyPr wrap="square">
            <a:spAutoFit/>
          </a:bodyPr>
          <a:lstStyle/>
          <a:p>
            <a:pPr algn="ctr"/>
            <a:r>
              <a:rPr sz="1000" b="0" i="1">
                <a:solidFill>
                  <a:srgbClr val="FFFFFF"/>
                </a:solidFill>
              </a:rPr>
              <a:t>6–12 mnd</a:t>
            </a:r>
          </a:p>
        </p:txBody>
      </p:sp>
      <p:sp>
        <p:nvSpPr>
          <p:cNvPr id="20" name="TextBox 19"/>
          <p:cNvSpPr txBox="1"/>
          <p:nvPr/>
        </p:nvSpPr>
        <p:spPr>
          <a:xfrm>
            <a:off x="3392423" y="2212848"/>
            <a:ext cx="2560320" cy="512064"/>
          </a:xfrm>
          <a:prstGeom prst="rect">
            <a:avLst/>
          </a:prstGeom>
          <a:noFill/>
        </p:spPr>
        <p:txBody>
          <a:bodyPr wrap="square">
            <a:spAutoFit/>
          </a:bodyPr>
          <a:lstStyle/>
          <a:p>
            <a:pPr algn="l"/>
            <a:r>
              <a:rPr sz="1000" b="0" i="0">
                <a:solidFill>
                  <a:srgbClr val="1A1A2E"/>
                </a:solidFill>
              </a:rPr>
              <a:t>• Onboarding / offboarding live</a:t>
            </a:r>
          </a:p>
        </p:txBody>
      </p:sp>
      <p:sp>
        <p:nvSpPr>
          <p:cNvPr id="21" name="TextBox 20"/>
          <p:cNvSpPr txBox="1"/>
          <p:nvPr/>
        </p:nvSpPr>
        <p:spPr>
          <a:xfrm>
            <a:off x="3392423" y="2779776"/>
            <a:ext cx="2560320" cy="512064"/>
          </a:xfrm>
          <a:prstGeom prst="rect">
            <a:avLst/>
          </a:prstGeom>
          <a:noFill/>
        </p:spPr>
        <p:txBody>
          <a:bodyPr wrap="square">
            <a:spAutoFit/>
          </a:bodyPr>
          <a:lstStyle/>
          <a:p>
            <a:pPr algn="l"/>
            <a:r>
              <a:rPr sz="1000" b="0" i="0">
                <a:solidFill>
                  <a:srgbClr val="1A1A2E"/>
                </a:solidFill>
              </a:rPr>
              <a:t>• Externe medewerkers (casus)</a:t>
            </a:r>
          </a:p>
        </p:txBody>
      </p:sp>
      <p:sp>
        <p:nvSpPr>
          <p:cNvPr id="22" name="TextBox 21"/>
          <p:cNvSpPr txBox="1"/>
          <p:nvPr/>
        </p:nvSpPr>
        <p:spPr>
          <a:xfrm>
            <a:off x="3392423" y="3346704"/>
            <a:ext cx="2560320" cy="512064"/>
          </a:xfrm>
          <a:prstGeom prst="rect">
            <a:avLst/>
          </a:prstGeom>
          <a:noFill/>
        </p:spPr>
        <p:txBody>
          <a:bodyPr wrap="square">
            <a:spAutoFit/>
          </a:bodyPr>
          <a:lstStyle/>
          <a:p>
            <a:pPr algn="l"/>
            <a:r>
              <a:rPr sz="1000" b="0" i="0">
                <a:solidFill>
                  <a:srgbClr val="1A1A2E"/>
                </a:solidFill>
              </a:rPr>
              <a:t>• Verlof &amp; contractwijzigingen</a:t>
            </a:r>
          </a:p>
        </p:txBody>
      </p:sp>
      <p:sp>
        <p:nvSpPr>
          <p:cNvPr id="23" name="TextBox 22"/>
          <p:cNvSpPr txBox="1"/>
          <p:nvPr/>
        </p:nvSpPr>
        <p:spPr>
          <a:xfrm>
            <a:off x="3392423" y="3913631"/>
            <a:ext cx="2560320" cy="512064"/>
          </a:xfrm>
          <a:prstGeom prst="rect">
            <a:avLst/>
          </a:prstGeom>
          <a:noFill/>
        </p:spPr>
        <p:txBody>
          <a:bodyPr wrap="square">
            <a:spAutoFit/>
          </a:bodyPr>
          <a:lstStyle/>
          <a:p>
            <a:pPr algn="l"/>
            <a:r>
              <a:rPr sz="1000" b="0" i="0">
                <a:solidFill>
                  <a:srgbClr val="1A1A2E"/>
                </a:solidFill>
              </a:rPr>
              <a:t>• SURFconext-koppeling</a:t>
            </a:r>
          </a:p>
        </p:txBody>
      </p:sp>
      <p:sp>
        <p:nvSpPr>
          <p:cNvPr id="24" name="TextBox 23"/>
          <p:cNvSpPr txBox="1"/>
          <p:nvPr/>
        </p:nvSpPr>
        <p:spPr>
          <a:xfrm>
            <a:off x="3392423" y="4480560"/>
            <a:ext cx="2560320" cy="512064"/>
          </a:xfrm>
          <a:prstGeom prst="rect">
            <a:avLst/>
          </a:prstGeom>
          <a:noFill/>
        </p:spPr>
        <p:txBody>
          <a:bodyPr wrap="square">
            <a:spAutoFit/>
          </a:bodyPr>
          <a:lstStyle/>
          <a:p>
            <a:pPr algn="l"/>
            <a:r>
              <a:rPr sz="1000" b="0" i="0">
                <a:solidFill>
                  <a:srgbClr val="1A1A2E"/>
                </a:solidFill>
              </a:rPr>
              <a:t>• Eerste AI-triage activeren</a:t>
            </a:r>
          </a:p>
        </p:txBody>
      </p:sp>
      <p:sp>
        <p:nvSpPr>
          <p:cNvPr id="25" name="TextBox 24"/>
          <p:cNvSpPr txBox="1"/>
          <p:nvPr/>
        </p:nvSpPr>
        <p:spPr>
          <a:xfrm>
            <a:off x="5998464" y="3429000"/>
            <a:ext cx="320040" cy="365760"/>
          </a:xfrm>
          <a:prstGeom prst="rect">
            <a:avLst/>
          </a:prstGeom>
          <a:noFill/>
        </p:spPr>
        <p:txBody>
          <a:bodyPr wrap="square">
            <a:spAutoFit/>
          </a:bodyPr>
          <a:lstStyle/>
          <a:p>
            <a:pPr algn="l"/>
            <a:r>
              <a:rPr sz="1800" b="1" i="0">
                <a:solidFill>
                  <a:srgbClr val="007050"/>
                </a:solidFill>
              </a:rPr>
              <a:t>→</a:t>
            </a:r>
          </a:p>
        </p:txBody>
      </p:sp>
      <p:sp>
        <p:nvSpPr>
          <p:cNvPr id="26" name="Rectangle 25"/>
          <p:cNvSpPr/>
          <p:nvPr/>
        </p:nvSpPr>
        <p:spPr>
          <a:xfrm>
            <a:off x="6236207" y="1325880"/>
            <a:ext cx="2834640" cy="5257800"/>
          </a:xfrm>
          <a:prstGeom prst="rect">
            <a:avLst/>
          </a:prstGeom>
          <a:solidFill>
            <a:srgbClr val="FFFFFF"/>
          </a:solidFill>
          <a:ln w="25400">
            <a:solidFill>
              <a:srgbClr val="5C2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6207" y="1325880"/>
            <a:ext cx="2834640" cy="804672"/>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7" y="1353312"/>
            <a:ext cx="2651760" cy="502920"/>
          </a:xfrm>
          <a:prstGeom prst="rect">
            <a:avLst/>
          </a:prstGeom>
          <a:noFill/>
        </p:spPr>
        <p:txBody>
          <a:bodyPr wrap="square">
            <a:spAutoFit/>
          </a:bodyPr>
          <a:lstStyle/>
          <a:p>
            <a:pPr algn="ctr"/>
            <a:r>
              <a:rPr sz="1300" b="1" i="0">
                <a:solidFill>
                  <a:srgbClr val="FFFFFF"/>
                </a:solidFill>
              </a:rPr>
              <a:t>Fase 3
Facilitair &amp; Finance</a:t>
            </a:r>
          </a:p>
        </p:txBody>
      </p:sp>
      <p:sp>
        <p:nvSpPr>
          <p:cNvPr id="29" name="TextBox 28"/>
          <p:cNvSpPr txBox="1"/>
          <p:nvPr/>
        </p:nvSpPr>
        <p:spPr>
          <a:xfrm>
            <a:off x="6327647" y="1828800"/>
            <a:ext cx="2651760" cy="256032"/>
          </a:xfrm>
          <a:prstGeom prst="rect">
            <a:avLst/>
          </a:prstGeom>
          <a:noFill/>
        </p:spPr>
        <p:txBody>
          <a:bodyPr wrap="square">
            <a:spAutoFit/>
          </a:bodyPr>
          <a:lstStyle/>
          <a:p>
            <a:pPr algn="ctr"/>
            <a:r>
              <a:rPr sz="1000" b="0" i="1">
                <a:solidFill>
                  <a:srgbClr val="FFFFFF"/>
                </a:solidFill>
              </a:rPr>
              <a:t>12–18 mnd</a:t>
            </a:r>
          </a:p>
        </p:txBody>
      </p:sp>
      <p:sp>
        <p:nvSpPr>
          <p:cNvPr id="30" name="TextBox 29"/>
          <p:cNvSpPr txBox="1"/>
          <p:nvPr/>
        </p:nvSpPr>
        <p:spPr>
          <a:xfrm>
            <a:off x="6373368" y="2212848"/>
            <a:ext cx="2560320" cy="512064"/>
          </a:xfrm>
          <a:prstGeom prst="rect">
            <a:avLst/>
          </a:prstGeom>
          <a:noFill/>
        </p:spPr>
        <p:txBody>
          <a:bodyPr wrap="square">
            <a:spAutoFit/>
          </a:bodyPr>
          <a:lstStyle/>
          <a:p>
            <a:pPr algn="l"/>
            <a:r>
              <a:rPr sz="1000" b="0" i="0">
                <a:solidFill>
                  <a:srgbClr val="1A1A2E"/>
                </a:solidFill>
              </a:rPr>
              <a:t>• Ruimtereservering &amp; toegang</a:t>
            </a:r>
          </a:p>
        </p:txBody>
      </p:sp>
      <p:sp>
        <p:nvSpPr>
          <p:cNvPr id="31" name="TextBox 30"/>
          <p:cNvSpPr txBox="1"/>
          <p:nvPr/>
        </p:nvSpPr>
        <p:spPr>
          <a:xfrm>
            <a:off x="6373368" y="2779776"/>
            <a:ext cx="2560320" cy="512064"/>
          </a:xfrm>
          <a:prstGeom prst="rect">
            <a:avLst/>
          </a:prstGeom>
          <a:noFill/>
        </p:spPr>
        <p:txBody>
          <a:bodyPr wrap="square">
            <a:spAutoFit/>
          </a:bodyPr>
          <a:lstStyle/>
          <a:p>
            <a:pPr algn="l"/>
            <a:r>
              <a:rPr sz="1000" b="0" i="0">
                <a:solidFill>
                  <a:srgbClr val="1A1A2E"/>
                </a:solidFill>
              </a:rPr>
              <a:t>• Meldingenbeheer gebouwen</a:t>
            </a:r>
          </a:p>
        </p:txBody>
      </p:sp>
      <p:sp>
        <p:nvSpPr>
          <p:cNvPr id="32" name="TextBox 31"/>
          <p:cNvSpPr txBox="1"/>
          <p:nvPr/>
        </p:nvSpPr>
        <p:spPr>
          <a:xfrm>
            <a:off x="6373368" y="3346704"/>
            <a:ext cx="2560320" cy="512064"/>
          </a:xfrm>
          <a:prstGeom prst="rect">
            <a:avLst/>
          </a:prstGeom>
          <a:noFill/>
        </p:spPr>
        <p:txBody>
          <a:bodyPr wrap="square">
            <a:spAutoFit/>
          </a:bodyPr>
          <a:lstStyle/>
          <a:p>
            <a:pPr algn="l"/>
            <a:r>
              <a:rPr sz="1000" b="0" i="0">
                <a:solidFill>
                  <a:srgbClr val="1A1A2E"/>
                </a:solidFill>
              </a:rPr>
              <a:t>• Inkoop- &amp; declaratieflows</a:t>
            </a:r>
          </a:p>
        </p:txBody>
      </p:sp>
      <p:sp>
        <p:nvSpPr>
          <p:cNvPr id="33" name="TextBox 32"/>
          <p:cNvSpPr txBox="1"/>
          <p:nvPr/>
        </p:nvSpPr>
        <p:spPr>
          <a:xfrm>
            <a:off x="6373368" y="3913631"/>
            <a:ext cx="2560320" cy="512064"/>
          </a:xfrm>
          <a:prstGeom prst="rect">
            <a:avLst/>
          </a:prstGeom>
          <a:noFill/>
        </p:spPr>
        <p:txBody>
          <a:bodyPr wrap="square">
            <a:spAutoFit/>
          </a:bodyPr>
          <a:lstStyle/>
          <a:p>
            <a:pPr algn="l"/>
            <a:r>
              <a:rPr sz="1000" b="0" i="0">
                <a:solidFill>
                  <a:srgbClr val="1A1A2E"/>
                </a:solidFill>
              </a:rPr>
              <a:t>• Budgetvalidatie geautomatiseerd</a:t>
            </a:r>
          </a:p>
        </p:txBody>
      </p:sp>
      <p:sp>
        <p:nvSpPr>
          <p:cNvPr id="34" name="TextBox 33"/>
          <p:cNvSpPr txBox="1"/>
          <p:nvPr/>
        </p:nvSpPr>
        <p:spPr>
          <a:xfrm>
            <a:off x="6373368" y="4480560"/>
            <a:ext cx="2560320" cy="512064"/>
          </a:xfrm>
          <a:prstGeom prst="rect">
            <a:avLst/>
          </a:prstGeom>
          <a:noFill/>
        </p:spPr>
        <p:txBody>
          <a:bodyPr wrap="square">
            <a:spAutoFit/>
          </a:bodyPr>
          <a:lstStyle/>
          <a:p>
            <a:pPr algn="l"/>
            <a:r>
              <a:rPr sz="1000" b="0" i="0">
                <a:solidFill>
                  <a:srgbClr val="1A1A2E"/>
                </a:solidFill>
              </a:rPr>
              <a:t>• Zero-touch provisioning uitbreiden</a:t>
            </a:r>
          </a:p>
        </p:txBody>
      </p:sp>
      <p:sp>
        <p:nvSpPr>
          <p:cNvPr id="35" name="TextBox 34"/>
          <p:cNvSpPr txBox="1"/>
          <p:nvPr/>
        </p:nvSpPr>
        <p:spPr>
          <a:xfrm>
            <a:off x="8979408" y="3429000"/>
            <a:ext cx="320040" cy="365760"/>
          </a:xfrm>
          <a:prstGeom prst="rect">
            <a:avLst/>
          </a:prstGeom>
          <a:noFill/>
        </p:spPr>
        <p:txBody>
          <a:bodyPr wrap="square">
            <a:spAutoFit/>
          </a:bodyPr>
          <a:lstStyle/>
          <a:p>
            <a:pPr algn="l"/>
            <a:r>
              <a:rPr sz="1800" b="1" i="0">
                <a:solidFill>
                  <a:srgbClr val="5C2D91"/>
                </a:solidFill>
              </a:rPr>
              <a:t>→</a:t>
            </a:r>
          </a:p>
        </p:txBody>
      </p:sp>
      <p:sp>
        <p:nvSpPr>
          <p:cNvPr id="36" name="Rectangle 35"/>
          <p:cNvSpPr/>
          <p:nvPr/>
        </p:nvSpPr>
        <p:spPr>
          <a:xfrm>
            <a:off x="9217152" y="1325880"/>
            <a:ext cx="2834640" cy="5257800"/>
          </a:xfrm>
          <a:prstGeom prst="rect">
            <a:avLst/>
          </a:prstGeom>
          <a:solidFill>
            <a:srgbClr val="FFFFFF"/>
          </a:solidFill>
          <a:ln w="254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17152" y="1325880"/>
            <a:ext cx="2834640" cy="804672"/>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08592" y="1353312"/>
            <a:ext cx="2651760" cy="502920"/>
          </a:xfrm>
          <a:prstGeom prst="rect">
            <a:avLst/>
          </a:prstGeom>
          <a:noFill/>
        </p:spPr>
        <p:txBody>
          <a:bodyPr wrap="square">
            <a:spAutoFit/>
          </a:bodyPr>
          <a:lstStyle/>
          <a:p>
            <a:pPr algn="ctr"/>
            <a:r>
              <a:rPr sz="1300" b="1" i="0">
                <a:solidFill>
                  <a:srgbClr val="FFFFFF"/>
                </a:solidFill>
              </a:rPr>
              <a:t>Fase 4
Optimalisatie &amp; AI</a:t>
            </a:r>
          </a:p>
        </p:txBody>
      </p:sp>
      <p:sp>
        <p:nvSpPr>
          <p:cNvPr id="39" name="TextBox 38"/>
          <p:cNvSpPr txBox="1"/>
          <p:nvPr/>
        </p:nvSpPr>
        <p:spPr>
          <a:xfrm>
            <a:off x="9308592" y="1828800"/>
            <a:ext cx="2651760" cy="256032"/>
          </a:xfrm>
          <a:prstGeom prst="rect">
            <a:avLst/>
          </a:prstGeom>
          <a:noFill/>
        </p:spPr>
        <p:txBody>
          <a:bodyPr wrap="square">
            <a:spAutoFit/>
          </a:bodyPr>
          <a:lstStyle/>
          <a:p>
            <a:pPr algn="ctr"/>
            <a:r>
              <a:rPr sz="1000" b="0" i="1">
                <a:solidFill>
                  <a:srgbClr val="FFFFFF"/>
                </a:solidFill>
              </a:rPr>
              <a:t>18–24 mnd</a:t>
            </a:r>
          </a:p>
        </p:txBody>
      </p:sp>
      <p:sp>
        <p:nvSpPr>
          <p:cNvPr id="40" name="TextBox 39"/>
          <p:cNvSpPr txBox="1"/>
          <p:nvPr/>
        </p:nvSpPr>
        <p:spPr>
          <a:xfrm>
            <a:off x="9354312" y="2212848"/>
            <a:ext cx="2560320" cy="512064"/>
          </a:xfrm>
          <a:prstGeom prst="rect">
            <a:avLst/>
          </a:prstGeom>
          <a:noFill/>
        </p:spPr>
        <p:txBody>
          <a:bodyPr wrap="square">
            <a:spAutoFit/>
          </a:bodyPr>
          <a:lstStyle/>
          <a:p>
            <a:pPr algn="l"/>
            <a:r>
              <a:rPr sz="1000" b="0" i="0">
                <a:solidFill>
                  <a:srgbClr val="1A1A2E"/>
                </a:solidFill>
              </a:rPr>
              <a:t>• Predictive analytics live</a:t>
            </a:r>
          </a:p>
        </p:txBody>
      </p:sp>
      <p:sp>
        <p:nvSpPr>
          <p:cNvPr id="41" name="TextBox 40"/>
          <p:cNvSpPr txBox="1"/>
          <p:nvPr/>
        </p:nvSpPr>
        <p:spPr>
          <a:xfrm>
            <a:off x="9354312" y="2779776"/>
            <a:ext cx="2560320" cy="512064"/>
          </a:xfrm>
          <a:prstGeom prst="rect">
            <a:avLst/>
          </a:prstGeom>
          <a:noFill/>
        </p:spPr>
        <p:txBody>
          <a:bodyPr wrap="square">
            <a:spAutoFit/>
          </a:bodyPr>
          <a:lstStyle/>
          <a:p>
            <a:pPr algn="l"/>
            <a:r>
              <a:rPr sz="1000" b="0" i="0">
                <a:solidFill>
                  <a:srgbClr val="1A1A2E"/>
                </a:solidFill>
              </a:rPr>
              <a:t>• Copilot / virtual agent</a:t>
            </a:r>
          </a:p>
        </p:txBody>
      </p:sp>
      <p:sp>
        <p:nvSpPr>
          <p:cNvPr id="42" name="TextBox 41"/>
          <p:cNvSpPr txBox="1"/>
          <p:nvPr/>
        </p:nvSpPr>
        <p:spPr>
          <a:xfrm>
            <a:off x="9354312" y="3346704"/>
            <a:ext cx="2560320" cy="512064"/>
          </a:xfrm>
          <a:prstGeom prst="rect">
            <a:avLst/>
          </a:prstGeom>
          <a:noFill/>
        </p:spPr>
        <p:txBody>
          <a:bodyPr wrap="square">
            <a:spAutoFit/>
          </a:bodyPr>
          <a:lstStyle/>
          <a:p>
            <a:pPr algn="l"/>
            <a:r>
              <a:rPr sz="1000" b="0" i="0">
                <a:solidFill>
                  <a:srgbClr val="1A1A2E"/>
                </a:solidFill>
              </a:rPr>
              <a:t>• Volledige zero-touch onboarding</a:t>
            </a:r>
          </a:p>
        </p:txBody>
      </p:sp>
      <p:sp>
        <p:nvSpPr>
          <p:cNvPr id="43" name="TextBox 42"/>
          <p:cNvSpPr txBox="1"/>
          <p:nvPr/>
        </p:nvSpPr>
        <p:spPr>
          <a:xfrm>
            <a:off x="9354312" y="3913631"/>
            <a:ext cx="2560320" cy="512064"/>
          </a:xfrm>
          <a:prstGeom prst="rect">
            <a:avLst/>
          </a:prstGeom>
          <a:noFill/>
        </p:spPr>
        <p:txBody>
          <a:bodyPr wrap="square">
            <a:spAutoFit/>
          </a:bodyPr>
          <a:lstStyle/>
          <a:p>
            <a:pPr algn="l"/>
            <a:r>
              <a:rPr sz="1000" b="0" i="0">
                <a:solidFill>
                  <a:srgbClr val="1A1A2E"/>
                </a:solidFill>
              </a:rPr>
              <a:t>• Self-healing processen</a:t>
            </a:r>
          </a:p>
        </p:txBody>
      </p:sp>
      <p:sp>
        <p:nvSpPr>
          <p:cNvPr id="44" name="TextBox 43"/>
          <p:cNvSpPr txBox="1"/>
          <p:nvPr/>
        </p:nvSpPr>
        <p:spPr>
          <a:xfrm>
            <a:off x="9354312" y="4480560"/>
            <a:ext cx="2560320" cy="512064"/>
          </a:xfrm>
          <a:prstGeom prst="rect">
            <a:avLst/>
          </a:prstGeom>
          <a:noFill/>
        </p:spPr>
        <p:txBody>
          <a:bodyPr wrap="square">
            <a:spAutoFit/>
          </a:bodyPr>
          <a:lstStyle/>
          <a:p>
            <a:pPr algn="l"/>
            <a:r>
              <a:rPr sz="1000" b="0" i="0">
                <a:solidFill>
                  <a:srgbClr val="1A1A2E"/>
                </a:solidFill>
              </a:rPr>
              <a:t>• Continu verbeteren op data</a:t>
            </a:r>
          </a:p>
        </p:txBody>
      </p:sp>
      <p:sp>
        <p:nvSpPr>
          <p:cNvPr id="45" name="Rectangle 44"/>
          <p:cNvSpPr/>
          <p:nvPr/>
        </p:nvSpPr>
        <p:spPr>
          <a:xfrm>
            <a:off x="274320" y="6291072"/>
            <a:ext cx="11612880" cy="25603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6318504"/>
            <a:ext cx="11338560" cy="201168"/>
          </a:xfrm>
          <a:prstGeom prst="rect">
            <a:avLst/>
          </a:prstGeom>
          <a:noFill/>
        </p:spPr>
        <p:txBody>
          <a:bodyPr wrap="square">
            <a:spAutoFit/>
          </a:bodyPr>
          <a:lstStyle/>
          <a:p>
            <a:pPr algn="l"/>
            <a:r>
              <a:rPr sz="1000" b="1" i="0">
                <a:solidFill>
                  <a:srgbClr val="FFFFFF"/>
                </a:solidFill>
              </a:rPr>
              <a:t>💡  Start altijd met IT als bewezen domein — gebruik het succes als vliegwiel voor HR en Facilitair.</a:t>
            </a:r>
          </a:p>
        </p:txBody>
      </p:sp>
      <p:sp>
        <p:nvSpPr>
          <p:cNvPr id="47" name="TextBox 46"/>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Kritische Succesfactoren &amp; Valkuilen</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Wat maakt ESM-implementaties succesvol — of laat ze mislukken</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5577840" cy="822960"/>
          </a:xfrm>
          <a:prstGeom prst="rect">
            <a:avLst/>
          </a:prstGeom>
          <a:solidFill>
            <a:srgbClr val="FFFFFF"/>
          </a:solidFill>
          <a:ln w="127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457200" cy="8229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54480"/>
            <a:ext cx="457200" cy="457200"/>
          </a:xfrm>
          <a:prstGeom prst="rect">
            <a:avLst/>
          </a:prstGeom>
          <a:noFill/>
        </p:spPr>
        <p:txBody>
          <a:bodyPr wrap="square">
            <a:spAutoFit/>
          </a:bodyPr>
          <a:lstStyle/>
          <a:p>
            <a:pPr algn="ctr"/>
            <a:r>
              <a:rPr sz="1400" b="0" i="0">
                <a:solidFill>
                  <a:srgbClr val="FFFFFF"/>
                </a:solidFill>
              </a:rPr>
              <a:t>✅</a:t>
            </a:r>
          </a:p>
        </p:txBody>
      </p:sp>
      <p:sp>
        <p:nvSpPr>
          <p:cNvPr id="9" name="TextBox 8"/>
          <p:cNvSpPr txBox="1"/>
          <p:nvPr/>
        </p:nvSpPr>
        <p:spPr>
          <a:xfrm>
            <a:off x="841248" y="1444752"/>
            <a:ext cx="2286000" cy="347472"/>
          </a:xfrm>
          <a:prstGeom prst="rect">
            <a:avLst/>
          </a:prstGeom>
          <a:noFill/>
        </p:spPr>
        <p:txBody>
          <a:bodyPr wrap="square">
            <a:spAutoFit/>
          </a:bodyPr>
          <a:lstStyle/>
          <a:p>
            <a:pPr algn="l"/>
            <a:r>
              <a:rPr sz="1100" b="1" i="0">
                <a:solidFill>
                  <a:srgbClr val="007050"/>
                </a:solidFill>
              </a:rPr>
              <a:t>Service ownership</a:t>
            </a:r>
          </a:p>
        </p:txBody>
      </p:sp>
      <p:sp>
        <p:nvSpPr>
          <p:cNvPr id="10" name="TextBox 9"/>
          <p:cNvSpPr txBox="1"/>
          <p:nvPr/>
        </p:nvSpPr>
        <p:spPr>
          <a:xfrm>
            <a:off x="841248" y="1792224"/>
            <a:ext cx="4892040" cy="347472"/>
          </a:xfrm>
          <a:prstGeom prst="rect">
            <a:avLst/>
          </a:prstGeom>
          <a:noFill/>
        </p:spPr>
        <p:txBody>
          <a:bodyPr wrap="square">
            <a:spAutoFit/>
          </a:bodyPr>
          <a:lstStyle/>
          <a:p>
            <a:pPr algn="l"/>
            <a:r>
              <a:rPr sz="950" b="0" i="0">
                <a:solidFill>
                  <a:srgbClr val="1A1A2E"/>
                </a:solidFill>
              </a:rPr>
              <a:t>Elke service heeft een eigenaar buiten IT. Zonder dit vervalt de catalogus.</a:t>
            </a:r>
          </a:p>
        </p:txBody>
      </p:sp>
      <p:sp>
        <p:nvSpPr>
          <p:cNvPr id="11" name="Rectangle 10"/>
          <p:cNvSpPr/>
          <p:nvPr/>
        </p:nvSpPr>
        <p:spPr>
          <a:xfrm>
            <a:off x="274320" y="2304288"/>
            <a:ext cx="5577840" cy="822960"/>
          </a:xfrm>
          <a:prstGeom prst="rect">
            <a:avLst/>
          </a:prstGeom>
          <a:solidFill>
            <a:srgbClr val="FFFFFF"/>
          </a:solidFill>
          <a:ln w="127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304288"/>
            <a:ext cx="457200" cy="8229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487168"/>
            <a:ext cx="457200" cy="457200"/>
          </a:xfrm>
          <a:prstGeom prst="rect">
            <a:avLst/>
          </a:prstGeom>
          <a:noFill/>
        </p:spPr>
        <p:txBody>
          <a:bodyPr wrap="square">
            <a:spAutoFit/>
          </a:bodyPr>
          <a:lstStyle/>
          <a:p>
            <a:pPr algn="ctr"/>
            <a:r>
              <a:rPr sz="1400" b="0" i="0">
                <a:solidFill>
                  <a:srgbClr val="FFFFFF"/>
                </a:solidFill>
              </a:rPr>
              <a:t>✅</a:t>
            </a:r>
          </a:p>
        </p:txBody>
      </p:sp>
      <p:sp>
        <p:nvSpPr>
          <p:cNvPr id="14" name="TextBox 13"/>
          <p:cNvSpPr txBox="1"/>
          <p:nvPr/>
        </p:nvSpPr>
        <p:spPr>
          <a:xfrm>
            <a:off x="841248" y="2377440"/>
            <a:ext cx="2286000" cy="347472"/>
          </a:xfrm>
          <a:prstGeom prst="rect">
            <a:avLst/>
          </a:prstGeom>
          <a:noFill/>
        </p:spPr>
        <p:txBody>
          <a:bodyPr wrap="square">
            <a:spAutoFit/>
          </a:bodyPr>
          <a:lstStyle/>
          <a:p>
            <a:pPr algn="l"/>
            <a:r>
              <a:rPr sz="1100" b="1" i="0">
                <a:solidFill>
                  <a:srgbClr val="007050"/>
                </a:solidFill>
              </a:rPr>
              <a:t>Standaardiseren voor automatiseren</a:t>
            </a:r>
          </a:p>
        </p:txBody>
      </p:sp>
      <p:sp>
        <p:nvSpPr>
          <p:cNvPr id="15" name="TextBox 14"/>
          <p:cNvSpPr txBox="1"/>
          <p:nvPr/>
        </p:nvSpPr>
        <p:spPr>
          <a:xfrm>
            <a:off x="841248" y="2724912"/>
            <a:ext cx="4892040" cy="347472"/>
          </a:xfrm>
          <a:prstGeom prst="rect">
            <a:avLst/>
          </a:prstGeom>
          <a:noFill/>
        </p:spPr>
        <p:txBody>
          <a:bodyPr wrap="square">
            <a:spAutoFit/>
          </a:bodyPr>
          <a:lstStyle/>
          <a:p>
            <a:pPr algn="l"/>
            <a:r>
              <a:rPr sz="950" b="0" i="0">
                <a:solidFill>
                  <a:srgbClr val="1A1A2E"/>
                </a:solidFill>
              </a:rPr>
              <a:t>Automatiseer geen slecht proces. Ontwerp eerst, dan bouwen.</a:t>
            </a:r>
          </a:p>
        </p:txBody>
      </p:sp>
      <p:sp>
        <p:nvSpPr>
          <p:cNvPr id="16" name="Rectangle 15"/>
          <p:cNvSpPr/>
          <p:nvPr/>
        </p:nvSpPr>
        <p:spPr>
          <a:xfrm>
            <a:off x="274320" y="3236976"/>
            <a:ext cx="5577840" cy="822960"/>
          </a:xfrm>
          <a:prstGeom prst="rect">
            <a:avLst/>
          </a:prstGeom>
          <a:solidFill>
            <a:srgbClr val="FFFFFF"/>
          </a:solidFill>
          <a:ln w="127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3236976"/>
            <a:ext cx="457200" cy="8229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3419856"/>
            <a:ext cx="457200" cy="457200"/>
          </a:xfrm>
          <a:prstGeom prst="rect">
            <a:avLst/>
          </a:prstGeom>
          <a:noFill/>
        </p:spPr>
        <p:txBody>
          <a:bodyPr wrap="square">
            <a:spAutoFit/>
          </a:bodyPr>
          <a:lstStyle/>
          <a:p>
            <a:pPr algn="ctr"/>
            <a:r>
              <a:rPr sz="1400" b="0" i="0">
                <a:solidFill>
                  <a:srgbClr val="FFFFFF"/>
                </a:solidFill>
              </a:rPr>
              <a:t>✅</a:t>
            </a:r>
          </a:p>
        </p:txBody>
      </p:sp>
      <p:sp>
        <p:nvSpPr>
          <p:cNvPr id="19" name="TextBox 18"/>
          <p:cNvSpPr txBox="1"/>
          <p:nvPr/>
        </p:nvSpPr>
        <p:spPr>
          <a:xfrm>
            <a:off x="841248" y="3310128"/>
            <a:ext cx="2286000" cy="347472"/>
          </a:xfrm>
          <a:prstGeom prst="rect">
            <a:avLst/>
          </a:prstGeom>
          <a:noFill/>
        </p:spPr>
        <p:txBody>
          <a:bodyPr wrap="square">
            <a:spAutoFit/>
          </a:bodyPr>
          <a:lstStyle/>
          <a:p>
            <a:pPr algn="l"/>
            <a:r>
              <a:rPr sz="1100" b="1" i="0">
                <a:solidFill>
                  <a:srgbClr val="007050"/>
                </a:solidFill>
              </a:rPr>
              <a:t>Klein beginnen</a:t>
            </a:r>
          </a:p>
        </p:txBody>
      </p:sp>
      <p:sp>
        <p:nvSpPr>
          <p:cNvPr id="20" name="TextBox 19"/>
          <p:cNvSpPr txBox="1"/>
          <p:nvPr/>
        </p:nvSpPr>
        <p:spPr>
          <a:xfrm>
            <a:off x="841248" y="3657600"/>
            <a:ext cx="4892040" cy="347472"/>
          </a:xfrm>
          <a:prstGeom prst="rect">
            <a:avLst/>
          </a:prstGeom>
          <a:noFill/>
        </p:spPr>
        <p:txBody>
          <a:bodyPr wrap="square">
            <a:spAutoFit/>
          </a:bodyPr>
          <a:lstStyle/>
          <a:p>
            <a:pPr algn="l"/>
            <a:r>
              <a:rPr sz="950" b="0" i="0">
                <a:solidFill>
                  <a:srgbClr val="1A1A2E"/>
                </a:solidFill>
              </a:rPr>
              <a:t>Liever 5 goede services dan 50 halfbakken. Kwaliteit &gt; kwantiteit.</a:t>
            </a:r>
          </a:p>
        </p:txBody>
      </p:sp>
      <p:sp>
        <p:nvSpPr>
          <p:cNvPr id="21" name="Rectangle 20"/>
          <p:cNvSpPr/>
          <p:nvPr/>
        </p:nvSpPr>
        <p:spPr>
          <a:xfrm>
            <a:off x="274320" y="4169664"/>
            <a:ext cx="5577840" cy="822960"/>
          </a:xfrm>
          <a:prstGeom prst="rect">
            <a:avLst/>
          </a:prstGeom>
          <a:solidFill>
            <a:srgbClr val="FFFFFF"/>
          </a:solidFill>
          <a:ln w="127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4169664"/>
            <a:ext cx="457200" cy="8229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352544"/>
            <a:ext cx="457200" cy="457200"/>
          </a:xfrm>
          <a:prstGeom prst="rect">
            <a:avLst/>
          </a:prstGeom>
          <a:noFill/>
        </p:spPr>
        <p:txBody>
          <a:bodyPr wrap="square">
            <a:spAutoFit/>
          </a:bodyPr>
          <a:lstStyle/>
          <a:p>
            <a:pPr algn="ctr"/>
            <a:r>
              <a:rPr sz="1400" b="0" i="0">
                <a:solidFill>
                  <a:srgbClr val="FFFFFF"/>
                </a:solidFill>
              </a:rPr>
              <a:t>✅</a:t>
            </a:r>
          </a:p>
        </p:txBody>
      </p:sp>
      <p:sp>
        <p:nvSpPr>
          <p:cNvPr id="24" name="TextBox 23"/>
          <p:cNvSpPr txBox="1"/>
          <p:nvPr/>
        </p:nvSpPr>
        <p:spPr>
          <a:xfrm>
            <a:off x="841248" y="4242816"/>
            <a:ext cx="2286000" cy="347472"/>
          </a:xfrm>
          <a:prstGeom prst="rect">
            <a:avLst/>
          </a:prstGeom>
          <a:noFill/>
        </p:spPr>
        <p:txBody>
          <a:bodyPr wrap="square">
            <a:spAutoFit/>
          </a:bodyPr>
          <a:lstStyle/>
          <a:p>
            <a:pPr algn="l"/>
            <a:r>
              <a:rPr sz="1100" b="1" i="0">
                <a:solidFill>
                  <a:srgbClr val="007050"/>
                </a:solidFill>
              </a:rPr>
              <a:t>Sponsorship CvB / directie</a:t>
            </a:r>
          </a:p>
        </p:txBody>
      </p:sp>
      <p:sp>
        <p:nvSpPr>
          <p:cNvPr id="25" name="TextBox 24"/>
          <p:cNvSpPr txBox="1"/>
          <p:nvPr/>
        </p:nvSpPr>
        <p:spPr>
          <a:xfrm>
            <a:off x="841248" y="4590288"/>
            <a:ext cx="4892040" cy="347472"/>
          </a:xfrm>
          <a:prstGeom prst="rect">
            <a:avLst/>
          </a:prstGeom>
          <a:noFill/>
        </p:spPr>
        <p:txBody>
          <a:bodyPr wrap="square">
            <a:spAutoFit/>
          </a:bodyPr>
          <a:lstStyle/>
          <a:p>
            <a:pPr algn="l"/>
            <a:r>
              <a:rPr sz="950" b="0" i="0">
                <a:solidFill>
                  <a:srgbClr val="1A1A2E"/>
                </a:solidFill>
              </a:rPr>
              <a:t>ESM overstijgt IT. Zonder top-down mandaat loopt het vast bij HR of Facilitair.</a:t>
            </a:r>
          </a:p>
        </p:txBody>
      </p:sp>
      <p:sp>
        <p:nvSpPr>
          <p:cNvPr id="26" name="Rectangle 25"/>
          <p:cNvSpPr/>
          <p:nvPr/>
        </p:nvSpPr>
        <p:spPr>
          <a:xfrm>
            <a:off x="274320" y="5102352"/>
            <a:ext cx="5577840" cy="822960"/>
          </a:xfrm>
          <a:prstGeom prst="rect">
            <a:avLst/>
          </a:prstGeom>
          <a:solidFill>
            <a:srgbClr val="FFFFFF"/>
          </a:solidFill>
          <a:ln w="12700">
            <a:solidFill>
              <a:srgbClr val="007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5102352"/>
            <a:ext cx="457200" cy="8229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5285232"/>
            <a:ext cx="457200" cy="457200"/>
          </a:xfrm>
          <a:prstGeom prst="rect">
            <a:avLst/>
          </a:prstGeom>
          <a:noFill/>
        </p:spPr>
        <p:txBody>
          <a:bodyPr wrap="square">
            <a:spAutoFit/>
          </a:bodyPr>
          <a:lstStyle/>
          <a:p>
            <a:pPr algn="ctr"/>
            <a:r>
              <a:rPr sz="1400" b="0" i="0">
                <a:solidFill>
                  <a:srgbClr val="FFFFFF"/>
                </a:solidFill>
              </a:rPr>
              <a:t>✅</a:t>
            </a:r>
          </a:p>
        </p:txBody>
      </p:sp>
      <p:sp>
        <p:nvSpPr>
          <p:cNvPr id="29" name="TextBox 28"/>
          <p:cNvSpPr txBox="1"/>
          <p:nvPr/>
        </p:nvSpPr>
        <p:spPr>
          <a:xfrm>
            <a:off x="841248" y="5175504"/>
            <a:ext cx="2286000" cy="347472"/>
          </a:xfrm>
          <a:prstGeom prst="rect">
            <a:avLst/>
          </a:prstGeom>
          <a:noFill/>
        </p:spPr>
        <p:txBody>
          <a:bodyPr wrap="square">
            <a:spAutoFit/>
          </a:bodyPr>
          <a:lstStyle/>
          <a:p>
            <a:pPr algn="l"/>
            <a:r>
              <a:rPr sz="1100" b="1" i="0">
                <a:solidFill>
                  <a:srgbClr val="007050"/>
                </a:solidFill>
              </a:rPr>
              <a:t>Gebruikersadoptie centraal</a:t>
            </a:r>
          </a:p>
        </p:txBody>
      </p:sp>
      <p:sp>
        <p:nvSpPr>
          <p:cNvPr id="30" name="TextBox 29"/>
          <p:cNvSpPr txBox="1"/>
          <p:nvPr/>
        </p:nvSpPr>
        <p:spPr>
          <a:xfrm>
            <a:off x="841248" y="5522976"/>
            <a:ext cx="4892040" cy="347472"/>
          </a:xfrm>
          <a:prstGeom prst="rect">
            <a:avLst/>
          </a:prstGeom>
          <a:noFill/>
        </p:spPr>
        <p:txBody>
          <a:bodyPr wrap="square">
            <a:spAutoFit/>
          </a:bodyPr>
          <a:lstStyle/>
          <a:p>
            <a:pPr algn="l"/>
            <a:r>
              <a:rPr sz="950" b="0" i="0">
                <a:solidFill>
                  <a:srgbClr val="1A1A2E"/>
                </a:solidFill>
              </a:rPr>
              <a:t>De beste catalogus faalt als mensen hem niet weten te vinden of gebruiken.</a:t>
            </a:r>
          </a:p>
        </p:txBody>
      </p:sp>
      <p:sp>
        <p:nvSpPr>
          <p:cNvPr id="31" name="Rectangle 30"/>
          <p:cNvSpPr/>
          <p:nvPr/>
        </p:nvSpPr>
        <p:spPr>
          <a:xfrm>
            <a:off x="6309360" y="1371600"/>
            <a:ext cx="5577840" cy="822960"/>
          </a:xfrm>
          <a:prstGeom prst="rect">
            <a:avLst/>
          </a:prstGeom>
          <a:solidFill>
            <a:srgbClr val="FFFFFF"/>
          </a:solidFill>
          <a:ln w="127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1371600"/>
            <a:ext cx="457200" cy="822960"/>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1554480"/>
            <a:ext cx="457200" cy="457200"/>
          </a:xfrm>
          <a:prstGeom prst="rect">
            <a:avLst/>
          </a:prstGeom>
          <a:noFill/>
        </p:spPr>
        <p:txBody>
          <a:bodyPr wrap="square">
            <a:spAutoFit/>
          </a:bodyPr>
          <a:lstStyle/>
          <a:p>
            <a:pPr algn="ctr"/>
            <a:r>
              <a:rPr sz="1400" b="0" i="0">
                <a:solidFill>
                  <a:srgbClr val="FFFFFF"/>
                </a:solidFill>
              </a:rPr>
              <a:t>❌</a:t>
            </a:r>
          </a:p>
        </p:txBody>
      </p:sp>
      <p:sp>
        <p:nvSpPr>
          <p:cNvPr id="34" name="TextBox 33"/>
          <p:cNvSpPr txBox="1"/>
          <p:nvPr/>
        </p:nvSpPr>
        <p:spPr>
          <a:xfrm>
            <a:off x="6876288" y="1444752"/>
            <a:ext cx="2286000" cy="347472"/>
          </a:xfrm>
          <a:prstGeom prst="rect">
            <a:avLst/>
          </a:prstGeom>
          <a:noFill/>
        </p:spPr>
        <p:txBody>
          <a:bodyPr wrap="square">
            <a:spAutoFit/>
          </a:bodyPr>
          <a:lstStyle/>
          <a:p>
            <a:pPr algn="l"/>
            <a:r>
              <a:rPr sz="1100" b="1" i="0">
                <a:solidFill>
                  <a:srgbClr val="D83600"/>
                </a:solidFill>
              </a:rPr>
              <a:t>'De tool lost het op'</a:t>
            </a:r>
          </a:p>
        </p:txBody>
      </p:sp>
      <p:sp>
        <p:nvSpPr>
          <p:cNvPr id="35" name="TextBox 34"/>
          <p:cNvSpPr txBox="1"/>
          <p:nvPr/>
        </p:nvSpPr>
        <p:spPr>
          <a:xfrm>
            <a:off x="6876288" y="1792224"/>
            <a:ext cx="4892040" cy="347472"/>
          </a:xfrm>
          <a:prstGeom prst="rect">
            <a:avLst/>
          </a:prstGeom>
          <a:noFill/>
        </p:spPr>
        <p:txBody>
          <a:bodyPr wrap="square">
            <a:spAutoFit/>
          </a:bodyPr>
          <a:lstStyle/>
          <a:p>
            <a:pPr algn="l"/>
            <a:r>
              <a:rPr sz="950" b="0" i="0">
                <a:solidFill>
                  <a:srgbClr val="1A1A2E"/>
                </a:solidFill>
              </a:rPr>
              <a:t>Platform is enabler, niet de oplossing. Proces &amp; mensen eerst.</a:t>
            </a:r>
          </a:p>
        </p:txBody>
      </p:sp>
      <p:sp>
        <p:nvSpPr>
          <p:cNvPr id="36" name="Rectangle 35"/>
          <p:cNvSpPr/>
          <p:nvPr/>
        </p:nvSpPr>
        <p:spPr>
          <a:xfrm>
            <a:off x="6309360" y="2304288"/>
            <a:ext cx="5577840" cy="822960"/>
          </a:xfrm>
          <a:prstGeom prst="rect">
            <a:avLst/>
          </a:prstGeom>
          <a:solidFill>
            <a:srgbClr val="FFFFFF"/>
          </a:solidFill>
          <a:ln w="127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2304288"/>
            <a:ext cx="457200" cy="822960"/>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2487168"/>
            <a:ext cx="457200" cy="457200"/>
          </a:xfrm>
          <a:prstGeom prst="rect">
            <a:avLst/>
          </a:prstGeom>
          <a:noFill/>
        </p:spPr>
        <p:txBody>
          <a:bodyPr wrap="square">
            <a:spAutoFit/>
          </a:bodyPr>
          <a:lstStyle/>
          <a:p>
            <a:pPr algn="ctr"/>
            <a:r>
              <a:rPr sz="1400" b="0" i="0">
                <a:solidFill>
                  <a:srgbClr val="FFFFFF"/>
                </a:solidFill>
              </a:rPr>
              <a:t>❌</a:t>
            </a:r>
          </a:p>
        </p:txBody>
      </p:sp>
      <p:sp>
        <p:nvSpPr>
          <p:cNvPr id="39" name="TextBox 38"/>
          <p:cNvSpPr txBox="1"/>
          <p:nvPr/>
        </p:nvSpPr>
        <p:spPr>
          <a:xfrm>
            <a:off x="6876288" y="2377440"/>
            <a:ext cx="2286000" cy="347472"/>
          </a:xfrm>
          <a:prstGeom prst="rect">
            <a:avLst/>
          </a:prstGeom>
          <a:noFill/>
        </p:spPr>
        <p:txBody>
          <a:bodyPr wrap="square">
            <a:spAutoFit/>
          </a:bodyPr>
          <a:lstStyle/>
          <a:p>
            <a:pPr algn="l"/>
            <a:r>
              <a:rPr sz="1100" b="1" i="0">
                <a:solidFill>
                  <a:srgbClr val="D83600"/>
                </a:solidFill>
              </a:rPr>
              <a:t>Te veel aanpassen</a:t>
            </a:r>
          </a:p>
        </p:txBody>
      </p:sp>
      <p:sp>
        <p:nvSpPr>
          <p:cNvPr id="40" name="TextBox 39"/>
          <p:cNvSpPr txBox="1"/>
          <p:nvPr/>
        </p:nvSpPr>
        <p:spPr>
          <a:xfrm>
            <a:off x="6876288" y="2724912"/>
            <a:ext cx="4892040" cy="347472"/>
          </a:xfrm>
          <a:prstGeom prst="rect">
            <a:avLst/>
          </a:prstGeom>
          <a:noFill/>
        </p:spPr>
        <p:txBody>
          <a:bodyPr wrap="square">
            <a:spAutoFit/>
          </a:bodyPr>
          <a:lstStyle/>
          <a:p>
            <a:pPr algn="l"/>
            <a:r>
              <a:rPr sz="950" b="0" i="0">
                <a:solidFill>
                  <a:srgbClr val="1A1A2E"/>
                </a:solidFill>
              </a:rPr>
              <a:t>Pas de processen aan de tool aan, niet andersom. Customization = onderhoudslast.</a:t>
            </a:r>
          </a:p>
        </p:txBody>
      </p:sp>
      <p:sp>
        <p:nvSpPr>
          <p:cNvPr id="41" name="Rectangle 40"/>
          <p:cNvSpPr/>
          <p:nvPr/>
        </p:nvSpPr>
        <p:spPr>
          <a:xfrm>
            <a:off x="6309360" y="3236976"/>
            <a:ext cx="5577840" cy="822960"/>
          </a:xfrm>
          <a:prstGeom prst="rect">
            <a:avLst/>
          </a:prstGeom>
          <a:solidFill>
            <a:srgbClr val="FFFFFF"/>
          </a:solidFill>
          <a:ln w="127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3236976"/>
            <a:ext cx="457200" cy="822960"/>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3419856"/>
            <a:ext cx="457200" cy="457200"/>
          </a:xfrm>
          <a:prstGeom prst="rect">
            <a:avLst/>
          </a:prstGeom>
          <a:noFill/>
        </p:spPr>
        <p:txBody>
          <a:bodyPr wrap="square">
            <a:spAutoFit/>
          </a:bodyPr>
          <a:lstStyle/>
          <a:p>
            <a:pPr algn="ctr"/>
            <a:r>
              <a:rPr sz="1400" b="0" i="0">
                <a:solidFill>
                  <a:srgbClr val="FFFFFF"/>
                </a:solidFill>
              </a:rPr>
              <a:t>❌</a:t>
            </a:r>
          </a:p>
        </p:txBody>
      </p:sp>
      <p:sp>
        <p:nvSpPr>
          <p:cNvPr id="44" name="TextBox 43"/>
          <p:cNvSpPr txBox="1"/>
          <p:nvPr/>
        </p:nvSpPr>
        <p:spPr>
          <a:xfrm>
            <a:off x="6876288" y="3310128"/>
            <a:ext cx="2286000" cy="347472"/>
          </a:xfrm>
          <a:prstGeom prst="rect">
            <a:avLst/>
          </a:prstGeom>
          <a:noFill/>
        </p:spPr>
        <p:txBody>
          <a:bodyPr wrap="square">
            <a:spAutoFit/>
          </a:bodyPr>
          <a:lstStyle/>
          <a:p>
            <a:pPr algn="l"/>
            <a:r>
              <a:rPr sz="1100" b="1" i="0">
                <a:solidFill>
                  <a:srgbClr val="D83600"/>
                </a:solidFill>
              </a:rPr>
              <a:t>IT als enige eigenaar</a:t>
            </a:r>
          </a:p>
        </p:txBody>
      </p:sp>
      <p:sp>
        <p:nvSpPr>
          <p:cNvPr id="45" name="TextBox 44"/>
          <p:cNvSpPr txBox="1"/>
          <p:nvPr/>
        </p:nvSpPr>
        <p:spPr>
          <a:xfrm>
            <a:off x="6876288" y="3657600"/>
            <a:ext cx="4892040" cy="347472"/>
          </a:xfrm>
          <a:prstGeom prst="rect">
            <a:avLst/>
          </a:prstGeom>
          <a:noFill/>
        </p:spPr>
        <p:txBody>
          <a:bodyPr wrap="square">
            <a:spAutoFit/>
          </a:bodyPr>
          <a:lstStyle/>
          <a:p>
            <a:pPr algn="l"/>
            <a:r>
              <a:rPr sz="950" b="0" i="0">
                <a:solidFill>
                  <a:srgbClr val="1A1A2E"/>
                </a:solidFill>
              </a:rPr>
              <a:t>ESM is organisatiebreed. HR en Facilitair moeten zelf eigenaar worden.</a:t>
            </a:r>
          </a:p>
        </p:txBody>
      </p:sp>
      <p:sp>
        <p:nvSpPr>
          <p:cNvPr id="46" name="Rectangle 45"/>
          <p:cNvSpPr/>
          <p:nvPr/>
        </p:nvSpPr>
        <p:spPr>
          <a:xfrm>
            <a:off x="6309360" y="4169664"/>
            <a:ext cx="5577840" cy="822960"/>
          </a:xfrm>
          <a:prstGeom prst="rect">
            <a:avLst/>
          </a:prstGeom>
          <a:solidFill>
            <a:srgbClr val="FFFFFF"/>
          </a:solidFill>
          <a:ln w="127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169664"/>
            <a:ext cx="457200" cy="822960"/>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4352544"/>
            <a:ext cx="457200" cy="457200"/>
          </a:xfrm>
          <a:prstGeom prst="rect">
            <a:avLst/>
          </a:prstGeom>
          <a:noFill/>
        </p:spPr>
        <p:txBody>
          <a:bodyPr wrap="square">
            <a:spAutoFit/>
          </a:bodyPr>
          <a:lstStyle/>
          <a:p>
            <a:pPr algn="ctr"/>
            <a:r>
              <a:rPr sz="1400" b="0" i="0">
                <a:solidFill>
                  <a:srgbClr val="FFFFFF"/>
                </a:solidFill>
              </a:rPr>
              <a:t>❌</a:t>
            </a:r>
          </a:p>
        </p:txBody>
      </p:sp>
      <p:sp>
        <p:nvSpPr>
          <p:cNvPr id="49" name="TextBox 48"/>
          <p:cNvSpPr txBox="1"/>
          <p:nvPr/>
        </p:nvSpPr>
        <p:spPr>
          <a:xfrm>
            <a:off x="6876288" y="4242816"/>
            <a:ext cx="2286000" cy="347472"/>
          </a:xfrm>
          <a:prstGeom prst="rect">
            <a:avLst/>
          </a:prstGeom>
          <a:noFill/>
        </p:spPr>
        <p:txBody>
          <a:bodyPr wrap="square">
            <a:spAutoFit/>
          </a:bodyPr>
          <a:lstStyle/>
          <a:p>
            <a:pPr algn="l"/>
            <a:r>
              <a:rPr sz="1100" b="1" i="0">
                <a:solidFill>
                  <a:srgbClr val="D83600"/>
                </a:solidFill>
              </a:rPr>
              <a:t>Geen meetpunten</a:t>
            </a:r>
          </a:p>
        </p:txBody>
      </p:sp>
      <p:sp>
        <p:nvSpPr>
          <p:cNvPr id="50" name="TextBox 49"/>
          <p:cNvSpPr txBox="1"/>
          <p:nvPr/>
        </p:nvSpPr>
        <p:spPr>
          <a:xfrm>
            <a:off x="6876288" y="4590288"/>
            <a:ext cx="4892040" cy="347472"/>
          </a:xfrm>
          <a:prstGeom prst="rect">
            <a:avLst/>
          </a:prstGeom>
          <a:noFill/>
        </p:spPr>
        <p:txBody>
          <a:bodyPr wrap="square">
            <a:spAutoFit/>
          </a:bodyPr>
          <a:lstStyle/>
          <a:p>
            <a:pPr algn="l"/>
            <a:r>
              <a:rPr sz="950" b="0" i="0">
                <a:solidFill>
                  <a:srgbClr val="1A1A2E"/>
                </a:solidFill>
              </a:rPr>
              <a:t>Zonder KPI's en SLA-metingen is waardebewijs onmogelijk.</a:t>
            </a:r>
          </a:p>
        </p:txBody>
      </p:sp>
      <p:sp>
        <p:nvSpPr>
          <p:cNvPr id="51" name="Rectangle 50"/>
          <p:cNvSpPr/>
          <p:nvPr/>
        </p:nvSpPr>
        <p:spPr>
          <a:xfrm>
            <a:off x="6309360" y="5102352"/>
            <a:ext cx="5577840" cy="822960"/>
          </a:xfrm>
          <a:prstGeom prst="rect">
            <a:avLst/>
          </a:prstGeom>
          <a:solidFill>
            <a:srgbClr val="FFFFFF"/>
          </a:solidFill>
          <a:ln w="12700">
            <a:solidFill>
              <a:srgbClr val="D8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09360" y="5102352"/>
            <a:ext cx="457200" cy="822960"/>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9360" y="5285232"/>
            <a:ext cx="457200" cy="457200"/>
          </a:xfrm>
          <a:prstGeom prst="rect">
            <a:avLst/>
          </a:prstGeom>
          <a:noFill/>
        </p:spPr>
        <p:txBody>
          <a:bodyPr wrap="square">
            <a:spAutoFit/>
          </a:bodyPr>
          <a:lstStyle/>
          <a:p>
            <a:pPr algn="ctr"/>
            <a:r>
              <a:rPr sz="1400" b="0" i="0">
                <a:solidFill>
                  <a:srgbClr val="FFFFFF"/>
                </a:solidFill>
              </a:rPr>
              <a:t>❌</a:t>
            </a:r>
          </a:p>
        </p:txBody>
      </p:sp>
      <p:sp>
        <p:nvSpPr>
          <p:cNvPr id="54" name="TextBox 53"/>
          <p:cNvSpPr txBox="1"/>
          <p:nvPr/>
        </p:nvSpPr>
        <p:spPr>
          <a:xfrm>
            <a:off x="6876288" y="5175504"/>
            <a:ext cx="2286000" cy="347472"/>
          </a:xfrm>
          <a:prstGeom prst="rect">
            <a:avLst/>
          </a:prstGeom>
          <a:noFill/>
        </p:spPr>
        <p:txBody>
          <a:bodyPr wrap="square">
            <a:spAutoFit/>
          </a:bodyPr>
          <a:lstStyle/>
          <a:p>
            <a:pPr algn="l"/>
            <a:r>
              <a:rPr sz="1100" b="1" i="0">
                <a:solidFill>
                  <a:srgbClr val="D83600"/>
                </a:solidFill>
              </a:rPr>
              <a:t>Big bang uitrol</a:t>
            </a:r>
          </a:p>
        </p:txBody>
      </p:sp>
      <p:sp>
        <p:nvSpPr>
          <p:cNvPr id="55" name="TextBox 54"/>
          <p:cNvSpPr txBox="1"/>
          <p:nvPr/>
        </p:nvSpPr>
        <p:spPr>
          <a:xfrm>
            <a:off x="6876288" y="5522976"/>
            <a:ext cx="4892040" cy="347472"/>
          </a:xfrm>
          <a:prstGeom prst="rect">
            <a:avLst/>
          </a:prstGeom>
          <a:noFill/>
        </p:spPr>
        <p:txBody>
          <a:bodyPr wrap="square">
            <a:spAutoFit/>
          </a:bodyPr>
          <a:lstStyle/>
          <a:p>
            <a:pPr algn="l"/>
            <a:r>
              <a:rPr sz="950" b="0" i="0">
                <a:solidFill>
                  <a:srgbClr val="1A1A2E"/>
                </a:solidFill>
              </a:rPr>
              <a:t>Te groot, te snel = weerstand en uitval. Faseer altijd.</a:t>
            </a:r>
          </a:p>
        </p:txBody>
      </p:sp>
      <p:sp>
        <p:nvSpPr>
          <p:cNvPr id="56" name="TextBox 55"/>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9144000" cy="621792"/>
          </a:xfrm>
          <a:prstGeom prst="rect">
            <a:avLst/>
          </a:prstGeom>
          <a:noFill/>
        </p:spPr>
        <p:txBody>
          <a:bodyPr wrap="square">
            <a:spAutoFit/>
          </a:bodyPr>
          <a:lstStyle/>
          <a:p>
            <a:pPr algn="l"/>
            <a:r>
              <a:rPr sz="2800" b="1" i="0">
                <a:solidFill>
                  <a:srgbClr val="FFFFFF"/>
                </a:solidFill>
              </a:rPr>
              <a:t>Conclusie &amp; Aanbevelingen</a:t>
            </a:r>
          </a:p>
        </p:txBody>
      </p:sp>
      <p:sp>
        <p:nvSpPr>
          <p:cNvPr id="4" name="TextBox 3"/>
          <p:cNvSpPr txBox="1"/>
          <p:nvPr/>
        </p:nvSpPr>
        <p:spPr>
          <a:xfrm>
            <a:off x="320040" y="658368"/>
            <a:ext cx="9601200" cy="411480"/>
          </a:xfrm>
          <a:prstGeom prst="rect">
            <a:avLst/>
          </a:prstGeom>
          <a:noFill/>
        </p:spPr>
        <p:txBody>
          <a:bodyPr wrap="square">
            <a:spAutoFit/>
          </a:bodyPr>
          <a:lstStyle/>
          <a:p>
            <a:pPr algn="l"/>
            <a:r>
              <a:rPr sz="1300" b="0" i="0">
                <a:solidFill>
                  <a:srgbClr val="B8D4F0"/>
                </a:solidFill>
              </a:rPr>
              <a:t>ESM als strategische keuze voor de digitale universiteit</a:t>
            </a:r>
          </a:p>
        </p:txBody>
      </p:sp>
      <p:sp>
        <p:nvSpPr>
          <p:cNvPr id="5" name="Rectangle 4"/>
          <p:cNvSpPr/>
          <p:nvPr/>
        </p:nvSpPr>
        <p:spPr>
          <a:xfrm>
            <a:off x="0" y="1188720"/>
            <a:ext cx="12188952" cy="56692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137160" cy="117043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26464"/>
            <a:ext cx="11247120" cy="347472"/>
          </a:xfrm>
          <a:prstGeom prst="rect">
            <a:avLst/>
          </a:prstGeom>
          <a:noFill/>
        </p:spPr>
        <p:txBody>
          <a:bodyPr wrap="square">
            <a:spAutoFit/>
          </a:bodyPr>
          <a:lstStyle/>
          <a:p>
            <a:pPr algn="l"/>
            <a:r>
              <a:rPr sz="1200" b="1" i="0">
                <a:solidFill>
                  <a:srgbClr val="0050A0"/>
                </a:solidFill>
              </a:rPr>
              <a:t>ESM is geen IT-project — het is een organisatieverandering</a:t>
            </a:r>
          </a:p>
        </p:txBody>
      </p:sp>
      <p:sp>
        <p:nvSpPr>
          <p:cNvPr id="8" name="TextBox 7"/>
          <p:cNvSpPr txBox="1"/>
          <p:nvPr/>
        </p:nvSpPr>
        <p:spPr>
          <a:xfrm>
            <a:off x="548640" y="1828800"/>
            <a:ext cx="11247120" cy="777240"/>
          </a:xfrm>
          <a:prstGeom prst="rect">
            <a:avLst/>
          </a:prstGeom>
          <a:noFill/>
        </p:spPr>
        <p:txBody>
          <a:bodyPr wrap="square">
            <a:spAutoFit/>
          </a:bodyPr>
          <a:lstStyle/>
          <a:p>
            <a:pPr algn="l"/>
            <a:r>
              <a:rPr sz="1050" b="0" i="0">
                <a:solidFill>
                  <a:srgbClr val="1A1A2E"/>
                </a:solidFill>
              </a:rPr>
              <a:t>De technologie is beschikbaar en volwassen. De bottleneck zit in processen, eigenaarschap en adoptie. Succesvol ESM vereist mandaat vanuit het CvB en actieve betrokkenheid van HR, Facilitair en Finance als medebehuizers van het platform.</a:t>
            </a:r>
          </a:p>
        </p:txBody>
      </p:sp>
      <p:sp>
        <p:nvSpPr>
          <p:cNvPr id="9" name="Rectangle 8"/>
          <p:cNvSpPr/>
          <p:nvPr/>
        </p:nvSpPr>
        <p:spPr>
          <a:xfrm>
            <a:off x="274320" y="2688336"/>
            <a:ext cx="137160" cy="1170432"/>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43200"/>
            <a:ext cx="11247120" cy="347472"/>
          </a:xfrm>
          <a:prstGeom prst="rect">
            <a:avLst/>
          </a:prstGeom>
          <a:noFill/>
        </p:spPr>
        <p:txBody>
          <a:bodyPr wrap="square">
            <a:spAutoFit/>
          </a:bodyPr>
          <a:lstStyle/>
          <a:p>
            <a:pPr algn="l"/>
            <a:r>
              <a:rPr sz="1200" b="1" i="0">
                <a:solidFill>
                  <a:srgbClr val="007050"/>
                </a:solidFill>
              </a:rPr>
              <a:t>Begin met IT, bewijs waarde, schaal dan uit</a:t>
            </a:r>
          </a:p>
        </p:txBody>
      </p:sp>
      <p:sp>
        <p:nvSpPr>
          <p:cNvPr id="11" name="TextBox 10"/>
          <p:cNvSpPr txBox="1"/>
          <p:nvPr/>
        </p:nvSpPr>
        <p:spPr>
          <a:xfrm>
            <a:off x="548640" y="3145536"/>
            <a:ext cx="11247120" cy="777240"/>
          </a:xfrm>
          <a:prstGeom prst="rect">
            <a:avLst/>
          </a:prstGeom>
          <a:noFill/>
        </p:spPr>
        <p:txBody>
          <a:bodyPr wrap="square">
            <a:spAutoFit/>
          </a:bodyPr>
          <a:lstStyle/>
          <a:p>
            <a:pPr algn="l"/>
            <a:r>
              <a:rPr sz="1050" b="0" i="0">
                <a:solidFill>
                  <a:srgbClr val="1A1A2E"/>
                </a:solidFill>
              </a:rPr>
              <a:t>ITSM is het bewezen domein. Gebruik het als vliegwiel: toon ROI via kortere doorlooptijden en hogere tevredenheid, dan is de business case voor HR en Facilitair vanzelf gemaakt. Faseer de uitrol over 18–24 maanden.</a:t>
            </a:r>
          </a:p>
        </p:txBody>
      </p:sp>
      <p:sp>
        <p:nvSpPr>
          <p:cNvPr id="12" name="Rectangle 11"/>
          <p:cNvSpPr/>
          <p:nvPr/>
        </p:nvSpPr>
        <p:spPr>
          <a:xfrm>
            <a:off x="274320" y="4005072"/>
            <a:ext cx="137160" cy="1170432"/>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059935"/>
            <a:ext cx="11247120" cy="347472"/>
          </a:xfrm>
          <a:prstGeom prst="rect">
            <a:avLst/>
          </a:prstGeom>
          <a:noFill/>
        </p:spPr>
        <p:txBody>
          <a:bodyPr wrap="square">
            <a:spAutoFit/>
          </a:bodyPr>
          <a:lstStyle/>
          <a:p>
            <a:pPr algn="l"/>
            <a:r>
              <a:rPr sz="1200" b="1" i="0">
                <a:solidFill>
                  <a:srgbClr val="5C2D91"/>
                </a:solidFill>
              </a:rPr>
              <a:t>AI versterkt ESM — maar governance gaat voor</a:t>
            </a:r>
          </a:p>
        </p:txBody>
      </p:sp>
      <p:sp>
        <p:nvSpPr>
          <p:cNvPr id="14" name="TextBox 13"/>
          <p:cNvSpPr txBox="1"/>
          <p:nvPr/>
        </p:nvSpPr>
        <p:spPr>
          <a:xfrm>
            <a:off x="548640" y="4462272"/>
            <a:ext cx="11247120" cy="777240"/>
          </a:xfrm>
          <a:prstGeom prst="rect">
            <a:avLst/>
          </a:prstGeom>
          <a:noFill/>
        </p:spPr>
        <p:txBody>
          <a:bodyPr wrap="square">
            <a:spAutoFit/>
          </a:bodyPr>
          <a:lstStyle/>
          <a:p>
            <a:pPr algn="l"/>
            <a:r>
              <a:rPr sz="1050" b="0" i="0">
                <a:solidFill>
                  <a:srgbClr val="1A1A2E"/>
                </a:solidFill>
              </a:rPr>
              <a:t>Zero-touch provisioning, AI-triage en virtual agents zijn beschikbaar en volwassen. Activeer ze stap voor stap, met duidelijk eigenaarschap over AI-beslissingen en AVG-compliance als harde eis. Mens blijft in de loop bij hoog-impact acties.</a:t>
            </a:r>
          </a:p>
        </p:txBody>
      </p:sp>
      <p:sp>
        <p:nvSpPr>
          <p:cNvPr id="15" name="Rectangle 14"/>
          <p:cNvSpPr/>
          <p:nvPr/>
        </p:nvSpPr>
        <p:spPr>
          <a:xfrm>
            <a:off x="274320" y="5321808"/>
            <a:ext cx="137160" cy="1170432"/>
          </a:xfrm>
          <a:prstGeom prst="rect">
            <a:avLst/>
          </a:prstGeom>
          <a:solidFill>
            <a:srgbClr val="D8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376672"/>
            <a:ext cx="11247120" cy="347472"/>
          </a:xfrm>
          <a:prstGeom prst="rect">
            <a:avLst/>
          </a:prstGeom>
          <a:noFill/>
        </p:spPr>
        <p:txBody>
          <a:bodyPr wrap="square">
            <a:spAutoFit/>
          </a:bodyPr>
          <a:lstStyle/>
          <a:p>
            <a:pPr algn="l"/>
            <a:r>
              <a:rPr sz="1200" b="1" i="0">
                <a:solidFill>
                  <a:srgbClr val="D83600"/>
                </a:solidFill>
              </a:rPr>
              <a:t>De externe medewerker is de ideale startcasus</a:t>
            </a:r>
          </a:p>
        </p:txBody>
      </p:sp>
      <p:sp>
        <p:nvSpPr>
          <p:cNvPr id="17" name="TextBox 16"/>
          <p:cNvSpPr txBox="1"/>
          <p:nvPr/>
        </p:nvSpPr>
        <p:spPr>
          <a:xfrm>
            <a:off x="548640" y="5779008"/>
            <a:ext cx="11247120" cy="777240"/>
          </a:xfrm>
          <a:prstGeom prst="rect">
            <a:avLst/>
          </a:prstGeom>
          <a:noFill/>
        </p:spPr>
        <p:txBody>
          <a:bodyPr wrap="square">
            <a:spAutoFit/>
          </a:bodyPr>
          <a:lstStyle/>
          <a:p>
            <a:pPr algn="l"/>
            <a:r>
              <a:rPr sz="1050" b="0" i="0">
                <a:solidFill>
                  <a:srgbClr val="1A1A2E"/>
                </a:solidFill>
              </a:rPr>
              <a:t>Hoge frequentie, domeinoverstijgend (IT + HR + Facilitair), duidelijke AVG-vereisten, einddatum als natuurlijk off-boardingmoment. Succes hier bewijst de waarde van ESM in één concreet scenario.</a:t>
            </a:r>
          </a:p>
        </p:txBody>
      </p:sp>
      <p:sp>
        <p:nvSpPr>
          <p:cNvPr id="18" name="Rectangle 17"/>
          <p:cNvSpPr/>
          <p:nvPr/>
        </p:nvSpPr>
        <p:spPr>
          <a:xfrm>
            <a:off x="274320" y="6446520"/>
            <a:ext cx="11612880" cy="301752"/>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6483096"/>
            <a:ext cx="11338560" cy="228600"/>
          </a:xfrm>
          <a:prstGeom prst="rect">
            <a:avLst/>
          </a:prstGeom>
          <a:noFill/>
        </p:spPr>
        <p:txBody>
          <a:bodyPr wrap="square">
            <a:spAutoFit/>
          </a:bodyPr>
          <a:lstStyle/>
          <a:p>
            <a:pPr algn="l"/>
            <a:r>
              <a:rPr sz="1050" b="1" i="0">
                <a:solidFill>
                  <a:srgbClr val="FFFFFF"/>
                </a:solidFill>
              </a:rPr>
              <a:t>💡  ESM is geen luxe — het is de digitale ruggengraat van een moderne universiteit. Eén platform, alle domeinen, één ervaring.</a:t>
            </a:r>
          </a:p>
        </p:txBody>
      </p:sp>
      <p:sp>
        <p:nvSpPr>
          <p:cNvPr id="20" name="TextBox 19"/>
          <p:cNvSpPr txBox="1"/>
          <p:nvPr/>
        </p:nvSpPr>
        <p:spPr>
          <a:xfrm>
            <a:off x="11612880" y="6492240"/>
            <a:ext cx="457200" cy="274320"/>
          </a:xfrm>
          <a:prstGeom prst="rect">
            <a:avLst/>
          </a:prstGeom>
          <a:noFill/>
        </p:spPr>
        <p:txBody>
          <a:bodyPr wrap="square">
            <a:spAutoFit/>
          </a:bodyPr>
          <a:lstStyle/>
          <a:p>
            <a:pPr algn="r"/>
            <a:r>
              <a:rPr sz="1000" b="0" i="0">
                <a:solidFill>
                  <a:srgbClr val="647487"/>
                </a:solidFil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